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3" r:id="rId6"/>
    <p:sldId id="264" r:id="rId7"/>
    <p:sldId id="265" r:id="rId8"/>
    <p:sldId id="266" r:id="rId9"/>
    <p:sldId id="267" r:id="rId10"/>
    <p:sldId id="268" r:id="rId11"/>
    <p:sldId id="269"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6C8"/>
    <a:srgbClr val="F7F7F3"/>
    <a:srgbClr val="0094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p:scale>
          <a:sx n="152" d="100"/>
          <a:sy n="152" d="100"/>
        </p:scale>
        <p:origin x="672"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4249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10C99-44E3-1C98-5361-6A40593CB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3A7DB-CAC0-D01C-DFD0-326F081935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8FF5D9-47D7-9CCF-9DE3-252F59794B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C445CC-BB9E-BD33-F2EE-8E6F447AF29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57990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A1202-C165-9268-FC1C-9315CA5E2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213E1-86B7-AF99-B988-66E1A6872E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C1024C-4756-B49D-B1B6-DC1FD325CA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EDB03-405F-7F59-9A72-EF06839D1BF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11244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AC39E-634B-6314-BA3F-6C333D60A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B3CEC-A293-6E86-2C4B-591EC3E0A4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46AADB7-F019-A14B-8FB9-78D77D32A8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E792CC-E7B8-D113-E9DD-76B56E9B9F9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75399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0B49-D2A6-EC01-A2EF-636341B60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D3B1A-49CF-19D7-6C26-6ED74BEB4E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E1E80A-1794-CF22-79F7-DAB89BA0D5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FAB1C0-4F49-B0B9-B7AE-8DE50660B4D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34545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6A99-4BA2-7BCB-EB64-11B15B2F1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A1876-05B8-E55A-2E0C-F40CB4B741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32BE89-9EE5-63B3-D406-110E03AAB5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DA6056-E8F8-09D3-84EC-7F3B6F3B222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67708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D9806-90A6-5E75-C553-9FFF2EE5C9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70A5C-5EA3-9507-2709-40DF365B11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E4038E-4AC5-4FBA-DFCA-B27630067E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D0456D-69CA-C713-2582-B89D38655C9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607637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7DF71-92F2-4752-D850-3A48B7317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F6A44-69C2-A5D0-4A78-E1A323FA00B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8B9AB76-9E44-C005-DD81-16E88593C1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5B76DB-DE03-2021-ABD6-AA9BEA0E192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62395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3E"/>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293B2"/>
          </a:solidFill>
          <a:ln w="12700">
            <a:solidFill>
              <a:srgbClr val="0293B2"/>
            </a:solidFill>
            <a:prstDash val="solid"/>
          </a:ln>
        </p:spPr>
        <p:txBody>
          <a:bodyPr/>
          <a:lstStyle/>
          <a:p>
            <a:endParaRPr lang="en-US"/>
          </a:p>
        </p:txBody>
      </p:sp>
      <p:sp>
        <p:nvSpPr>
          <p:cNvPr id="8" name="Text 5"/>
          <p:cNvSpPr/>
          <p:nvPr/>
        </p:nvSpPr>
        <p:spPr>
          <a:xfrm>
            <a:off x="502920" y="1492758"/>
            <a:ext cx="5486400" cy="598932"/>
          </a:xfrm>
          <a:prstGeom prst="rect">
            <a:avLst/>
          </a:prstGeom>
          <a:noFill/>
          <a:ln/>
        </p:spPr>
        <p:txBody>
          <a:bodyPr wrap="square" lIns="0" tIns="0" rIns="0" bIns="0" rtlCol="0" anchor="ctr"/>
          <a:lstStyle/>
          <a:p>
            <a:endParaRPr lang="en-US" sz="2800" b="1" dirty="0">
              <a:solidFill>
                <a:srgbClr val="FFFFFF"/>
              </a:solidFill>
              <a:latin typeface="Calibri" pitchFamily="34" charset="0"/>
              <a:ea typeface="Calibri" pitchFamily="34" charset="-122"/>
              <a:cs typeface="Calibri" pitchFamily="34" charset="-120"/>
            </a:endParaRPr>
          </a:p>
          <a:p>
            <a:r>
              <a:rPr lang="en-US" sz="2800" b="1" dirty="0">
                <a:solidFill>
                  <a:srgbClr val="FFFFFF"/>
                </a:solidFill>
                <a:latin typeface="Calibri" pitchFamily="34" charset="0"/>
                <a:ea typeface="Calibri" pitchFamily="34" charset="-122"/>
                <a:cs typeface="Calibri" pitchFamily="34" charset="-120"/>
              </a:rPr>
              <a:t>Student Pathway Completion Risk &amp; Early Intervention Analytics</a:t>
            </a:r>
          </a:p>
          <a:p>
            <a:endParaRPr lang="en-US" sz="2800" dirty="0"/>
          </a:p>
        </p:txBody>
      </p:sp>
      <p:sp>
        <p:nvSpPr>
          <p:cNvPr id="9" name="Shape 6"/>
          <p:cNvSpPr/>
          <p:nvPr/>
        </p:nvSpPr>
        <p:spPr>
          <a:xfrm>
            <a:off x="502920" y="2384298"/>
            <a:ext cx="2286000" cy="36576"/>
          </a:xfrm>
          <a:prstGeom prst="rect">
            <a:avLst/>
          </a:prstGeom>
          <a:solidFill>
            <a:srgbClr val="F5A623"/>
          </a:solidFill>
          <a:ln w="12700">
            <a:solidFill>
              <a:srgbClr val="F5A623"/>
            </a:solidFill>
            <a:prstDash val="solid"/>
          </a:ln>
        </p:spPr>
        <p:txBody>
          <a:bodyPr/>
          <a:lstStyle/>
          <a:p>
            <a:endParaRPr lang="en-US"/>
          </a:p>
        </p:txBody>
      </p:sp>
      <p:sp>
        <p:nvSpPr>
          <p:cNvPr id="11" name="Text 8"/>
          <p:cNvSpPr/>
          <p:nvPr/>
        </p:nvSpPr>
        <p:spPr>
          <a:xfrm>
            <a:off x="502920" y="2421713"/>
            <a:ext cx="5029200" cy="437591"/>
          </a:xfrm>
          <a:prstGeom prst="rect">
            <a:avLst/>
          </a:prstGeom>
          <a:noFill/>
          <a:ln/>
        </p:spPr>
        <p:txBody>
          <a:bodyPr wrap="square" lIns="0" tIns="0" rIns="0" bIns="0" rtlCol="0" anchor="ctr"/>
          <a:lstStyle/>
          <a:p>
            <a:pPr marL="0" indent="0">
              <a:lnSpc>
                <a:spcPct val="140000"/>
              </a:lnSpc>
              <a:buNone/>
            </a:pPr>
            <a:r>
              <a:rPr lang="en-US" sz="1400" dirty="0">
                <a:solidFill>
                  <a:srgbClr val="8BADB0"/>
                </a:solidFill>
                <a:latin typeface="Calibri" pitchFamily="34" charset="0"/>
                <a:ea typeface="Calibri" pitchFamily="34" charset="-122"/>
                <a:cs typeface="Calibri" pitchFamily="34" charset="-120"/>
              </a:rPr>
              <a:t>Unlocking Potential | Empowering Minds</a:t>
            </a:r>
            <a:endParaRPr lang="en-US" sz="1400" dirty="0"/>
          </a:p>
        </p:txBody>
      </p:sp>
      <p:sp>
        <p:nvSpPr>
          <p:cNvPr id="12" name="Text 9"/>
          <p:cNvSpPr/>
          <p:nvPr/>
        </p:nvSpPr>
        <p:spPr>
          <a:xfrm>
            <a:off x="502920" y="4206240"/>
            <a:ext cx="4572000" cy="256032"/>
          </a:xfrm>
          <a:prstGeom prst="rect">
            <a:avLst/>
          </a:prstGeom>
          <a:noFill/>
          <a:ln/>
        </p:spPr>
        <p:txBody>
          <a:bodyPr wrap="square" lIns="0" tIns="0" rIns="0" bIns="0" rtlCol="0" anchor="ctr"/>
          <a:lstStyle/>
          <a:p>
            <a:pPr marL="0" indent="0">
              <a:buNone/>
            </a:pPr>
            <a:r>
              <a:rPr lang="en-US" sz="900" dirty="0">
                <a:solidFill>
                  <a:srgbClr val="5A7A8A"/>
                </a:solidFill>
                <a:latin typeface="Calibri" pitchFamily="34" charset="0"/>
                <a:ea typeface="Calibri" pitchFamily="34" charset="-122"/>
                <a:cs typeface="Calibri" pitchFamily="34" charset="-120"/>
              </a:rPr>
              <a:t>By Ishan Joshi </a:t>
            </a:r>
            <a:endParaRPr lang="en-US" sz="900" dirty="0"/>
          </a:p>
        </p:txBody>
      </p:sp>
      <p:sp>
        <p:nvSpPr>
          <p:cNvPr id="13" name="Text 10"/>
          <p:cNvSpPr/>
          <p:nvPr/>
        </p:nvSpPr>
        <p:spPr>
          <a:xfrm>
            <a:off x="502920" y="4347972"/>
            <a:ext cx="5943600" cy="228600"/>
          </a:xfrm>
          <a:prstGeom prst="rect">
            <a:avLst/>
          </a:prstGeom>
          <a:noFill/>
          <a:ln/>
        </p:spPr>
        <p:txBody>
          <a:bodyPr wrap="square" lIns="0" tIns="0" rIns="0" bIns="0" rtlCol="0" anchor="ctr"/>
          <a:lstStyle/>
          <a:p>
            <a:pPr marL="0" indent="0">
              <a:buNone/>
            </a:pPr>
            <a:r>
              <a:rPr lang="en-US" sz="800" dirty="0">
                <a:solidFill>
                  <a:srgbClr val="4A6B70"/>
                </a:solidFill>
                <a:latin typeface="Calibri" pitchFamily="34" charset="0"/>
                <a:ea typeface="Calibri" pitchFamily="34" charset="-122"/>
                <a:cs typeface="Calibri" pitchFamily="34" charset="-120"/>
              </a:rPr>
              <a:t>Seattle, WA  ·  github.com/nishaanjoshi0  ·  linkedin.com/in/ishannjoshi</a:t>
            </a:r>
            <a:endParaRPr lang="en-US" sz="800" dirty="0"/>
          </a:p>
        </p:txBody>
      </p:sp>
      <p:pic>
        <p:nvPicPr>
          <p:cNvPr id="15" name="Picture 14" descr="A blue butterfly on a black background&#10;&#10;AI-generated content may be incorrect.">
            <a:extLst>
              <a:ext uri="{FF2B5EF4-FFF2-40B4-BE49-F238E27FC236}">
                <a16:creationId xmlns:a16="http://schemas.microsoft.com/office/drawing/2014/main" id="{60D24972-6D17-1591-CC6B-7E96B6592105}"/>
              </a:ext>
            </a:extLst>
          </p:cNvPr>
          <p:cNvPicPr>
            <a:picLocks noChangeAspect="1"/>
          </p:cNvPicPr>
          <p:nvPr/>
        </p:nvPicPr>
        <p:blipFill>
          <a:blip r:embed="rId3"/>
          <a:stretch>
            <a:fillRect/>
          </a:stretch>
        </p:blipFill>
        <p:spPr>
          <a:xfrm>
            <a:off x="502921" y="145823"/>
            <a:ext cx="1759034" cy="1054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p:cNvSpPr/>
          <p:nvPr/>
        </p:nvSpPr>
        <p:spPr>
          <a:xfrm>
            <a:off x="411480" y="347472"/>
            <a:ext cx="8321040" cy="502920"/>
          </a:xfrm>
          <a:prstGeom prst="rect">
            <a:avLst/>
          </a:prstGeom>
          <a:noFill/>
          <a:ln/>
        </p:spPr>
        <p:txBody>
          <a:bodyPr wrap="square" lIns="0" tIns="0" rIns="0" bIns="0" rtlCol="0" anchor="ctr"/>
          <a:lstStyle/>
          <a:p>
            <a:pPr marL="0" indent="0">
              <a:buNone/>
            </a:pPr>
            <a:r>
              <a:rPr lang="en-US" sz="2200" b="1" dirty="0">
                <a:solidFill>
                  <a:srgbClr val="0D2B3E"/>
                </a:solidFill>
                <a:latin typeface="Calibri" pitchFamily="34" charset="0"/>
                <a:ea typeface="Calibri" pitchFamily="34" charset="-122"/>
                <a:cs typeface="Calibri" pitchFamily="34" charset="-120"/>
              </a:rPr>
              <a:t>Starting with the mission</a:t>
            </a:r>
            <a:endParaRPr lang="en-US" sz="2200" dirty="0"/>
          </a:p>
        </p:txBody>
      </p:sp>
      <p:sp>
        <p:nvSpPr>
          <p:cNvPr id="6" name="Shape 4"/>
          <p:cNvSpPr/>
          <p:nvPr/>
        </p:nvSpPr>
        <p:spPr>
          <a:xfrm>
            <a:off x="411480" y="886968"/>
            <a:ext cx="1645920" cy="36576"/>
          </a:xfrm>
          <a:prstGeom prst="rect">
            <a:avLst/>
          </a:prstGeom>
          <a:solidFill>
            <a:srgbClr val="F5A623"/>
          </a:solidFill>
          <a:ln w="12700">
            <a:solidFill>
              <a:srgbClr val="F5A623"/>
            </a:solidFill>
            <a:prstDash val="solid"/>
          </a:ln>
        </p:spPr>
        <p:txBody>
          <a:bodyPr/>
          <a:lstStyle/>
          <a:p>
            <a:endParaRPr lang="en-US"/>
          </a:p>
        </p:txBody>
      </p:sp>
      <p:sp>
        <p:nvSpPr>
          <p:cNvPr id="11" name="Text 8"/>
          <p:cNvSpPr/>
          <p:nvPr/>
        </p:nvSpPr>
        <p:spPr>
          <a:xfrm>
            <a:off x="674895" y="1409141"/>
            <a:ext cx="182880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Production ML + Agentic AI</a:t>
            </a:r>
            <a:endParaRPr lang="en-US" sz="1000" dirty="0"/>
          </a:p>
        </p:txBody>
      </p:sp>
      <p:sp>
        <p:nvSpPr>
          <p:cNvPr id="29" name="TextBox 28">
            <a:extLst>
              <a:ext uri="{FF2B5EF4-FFF2-40B4-BE49-F238E27FC236}">
                <a16:creationId xmlns:a16="http://schemas.microsoft.com/office/drawing/2014/main" id="{8C4D5EAE-43F8-25E3-0628-DF208BB153C4}"/>
              </a:ext>
            </a:extLst>
          </p:cNvPr>
          <p:cNvSpPr txBox="1"/>
          <p:nvPr/>
        </p:nvSpPr>
        <p:spPr>
          <a:xfrm>
            <a:off x="352757" y="979483"/>
            <a:ext cx="8556006" cy="553998"/>
          </a:xfrm>
          <a:prstGeom prst="rect">
            <a:avLst/>
          </a:prstGeom>
          <a:noFill/>
        </p:spPr>
        <p:txBody>
          <a:bodyPr wrap="square" rtlCol="0">
            <a:spAutoFit/>
          </a:bodyPr>
          <a:lstStyle/>
          <a:p>
            <a:r>
              <a:rPr lang="en-US" sz="1200" dirty="0"/>
              <a:t>CampusEvolve exists to improve economic mobility through education. Before building anything, I started with four business questions:</a:t>
            </a:r>
          </a:p>
          <a:p>
            <a:endParaRPr lang="en-US" dirty="0"/>
          </a:p>
        </p:txBody>
      </p:sp>
      <p:sp>
        <p:nvSpPr>
          <p:cNvPr id="32" name="Rounded Rectangle 31">
            <a:extLst>
              <a:ext uri="{FF2B5EF4-FFF2-40B4-BE49-F238E27FC236}">
                <a16:creationId xmlns:a16="http://schemas.microsoft.com/office/drawing/2014/main" id="{17739A4F-21E5-C2A4-91FA-2768396FECB6}"/>
              </a:ext>
            </a:extLst>
          </p:cNvPr>
          <p:cNvSpPr/>
          <p:nvPr/>
        </p:nvSpPr>
        <p:spPr>
          <a:xfrm>
            <a:off x="506107" y="1600200"/>
            <a:ext cx="3772278" cy="13946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8D43199D-06B9-0D6F-853B-B6D36FAB1C4A}"/>
              </a:ext>
            </a:extLst>
          </p:cNvPr>
          <p:cNvSpPr txBox="1"/>
          <p:nvPr/>
        </p:nvSpPr>
        <p:spPr>
          <a:xfrm>
            <a:off x="811929" y="2055519"/>
            <a:ext cx="3383531" cy="769441"/>
          </a:xfrm>
          <a:prstGeom prst="rect">
            <a:avLst/>
          </a:prstGeom>
          <a:noFill/>
        </p:spPr>
        <p:txBody>
          <a:bodyPr wrap="square" rtlCol="0">
            <a:spAutoFit/>
          </a:bodyPr>
          <a:lstStyle/>
          <a:p>
            <a:r>
              <a:rPr lang="en-US" sz="1300" dirty="0">
                <a:solidFill>
                  <a:schemeClr val="bg1">
                    <a:lumMod val="95000"/>
                  </a:schemeClr>
                </a:solidFill>
              </a:rPr>
              <a:t>Are students actually achieving economic     </a:t>
            </a:r>
          </a:p>
          <a:p>
            <a:r>
              <a:rPr lang="en-US" sz="1300" dirty="0">
                <a:solidFill>
                  <a:schemeClr val="bg1">
                    <a:lumMod val="95000"/>
                  </a:schemeClr>
                </a:solidFill>
              </a:rPr>
              <a:t>mobility through education?</a:t>
            </a:r>
          </a:p>
          <a:p>
            <a:endParaRPr lang="en-US" dirty="0"/>
          </a:p>
        </p:txBody>
      </p:sp>
      <p:sp>
        <p:nvSpPr>
          <p:cNvPr id="37" name="Rounded Rectangle 36">
            <a:extLst>
              <a:ext uri="{FF2B5EF4-FFF2-40B4-BE49-F238E27FC236}">
                <a16:creationId xmlns:a16="http://schemas.microsoft.com/office/drawing/2014/main" id="{58E220A9-8C0F-653A-3964-AEB9DCEBC883}"/>
              </a:ext>
            </a:extLst>
          </p:cNvPr>
          <p:cNvSpPr/>
          <p:nvPr/>
        </p:nvSpPr>
        <p:spPr>
          <a:xfrm>
            <a:off x="4447173" y="1600200"/>
            <a:ext cx="3772278" cy="13946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8" name="Rounded Rectangle 37">
            <a:extLst>
              <a:ext uri="{FF2B5EF4-FFF2-40B4-BE49-F238E27FC236}">
                <a16:creationId xmlns:a16="http://schemas.microsoft.com/office/drawing/2014/main" id="{56F1A50E-C1EE-EF3A-04AC-106BD170C9FD}"/>
              </a:ext>
            </a:extLst>
          </p:cNvPr>
          <p:cNvSpPr/>
          <p:nvPr/>
        </p:nvSpPr>
        <p:spPr>
          <a:xfrm>
            <a:off x="506107" y="3308492"/>
            <a:ext cx="3772278" cy="13946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9" name="Rounded Rectangle 38">
            <a:extLst>
              <a:ext uri="{FF2B5EF4-FFF2-40B4-BE49-F238E27FC236}">
                <a16:creationId xmlns:a16="http://schemas.microsoft.com/office/drawing/2014/main" id="{DF207CCF-37B7-F55B-BF73-EEA853FE1127}"/>
              </a:ext>
            </a:extLst>
          </p:cNvPr>
          <p:cNvSpPr/>
          <p:nvPr/>
        </p:nvSpPr>
        <p:spPr>
          <a:xfrm>
            <a:off x="4447173" y="3308492"/>
            <a:ext cx="3772278" cy="13946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AE473697-62A7-AF2D-6FA3-C1CB203CCBB5}"/>
              </a:ext>
            </a:extLst>
          </p:cNvPr>
          <p:cNvSpPr txBox="1"/>
          <p:nvPr/>
        </p:nvSpPr>
        <p:spPr>
          <a:xfrm>
            <a:off x="4910328" y="2147851"/>
            <a:ext cx="3080763" cy="292388"/>
          </a:xfrm>
          <a:prstGeom prst="rect">
            <a:avLst/>
          </a:prstGeom>
          <a:noFill/>
        </p:spPr>
        <p:txBody>
          <a:bodyPr wrap="square" rtlCol="0">
            <a:spAutoFit/>
          </a:bodyPr>
          <a:lstStyle/>
          <a:p>
            <a:r>
              <a:rPr lang="en-US" sz="1300" dirty="0">
                <a:solidFill>
                  <a:schemeClr val="bg1">
                    <a:lumMod val="95000"/>
                  </a:schemeClr>
                </a:solidFill>
              </a:rPr>
              <a:t>Who is falling off the pathway and why?</a:t>
            </a:r>
          </a:p>
        </p:txBody>
      </p:sp>
      <p:sp>
        <p:nvSpPr>
          <p:cNvPr id="41" name="TextBox 40">
            <a:extLst>
              <a:ext uri="{FF2B5EF4-FFF2-40B4-BE49-F238E27FC236}">
                <a16:creationId xmlns:a16="http://schemas.microsoft.com/office/drawing/2014/main" id="{7D7C792D-876E-2F1F-0093-F4F68546FC2A}"/>
              </a:ext>
            </a:extLst>
          </p:cNvPr>
          <p:cNvSpPr txBox="1"/>
          <p:nvPr/>
        </p:nvSpPr>
        <p:spPr>
          <a:xfrm>
            <a:off x="816500" y="3759605"/>
            <a:ext cx="3179428" cy="492443"/>
          </a:xfrm>
          <a:prstGeom prst="rect">
            <a:avLst/>
          </a:prstGeom>
          <a:noFill/>
        </p:spPr>
        <p:txBody>
          <a:bodyPr wrap="square" rtlCol="0">
            <a:spAutoFit/>
          </a:bodyPr>
          <a:lstStyle/>
          <a:p>
            <a:r>
              <a:rPr lang="en-US" sz="1300" dirty="0">
                <a:solidFill>
                  <a:schemeClr val="bg1">
                    <a:lumMod val="95000"/>
                  </a:schemeClr>
                </a:solidFill>
              </a:rPr>
              <a:t>Are interventions reaching the students who need them most?</a:t>
            </a:r>
          </a:p>
        </p:txBody>
      </p:sp>
      <p:sp>
        <p:nvSpPr>
          <p:cNvPr id="42" name="TextBox 41">
            <a:extLst>
              <a:ext uri="{FF2B5EF4-FFF2-40B4-BE49-F238E27FC236}">
                <a16:creationId xmlns:a16="http://schemas.microsoft.com/office/drawing/2014/main" id="{9EADA67C-D2F3-34AE-7863-078A6AFDEBB5}"/>
              </a:ext>
            </a:extLst>
          </p:cNvPr>
          <p:cNvSpPr txBox="1"/>
          <p:nvPr/>
        </p:nvSpPr>
        <p:spPr>
          <a:xfrm>
            <a:off x="4910328" y="3735775"/>
            <a:ext cx="3100533" cy="499495"/>
          </a:xfrm>
          <a:prstGeom prst="rect">
            <a:avLst/>
          </a:prstGeom>
          <a:noFill/>
        </p:spPr>
        <p:txBody>
          <a:bodyPr wrap="square" rtlCol="0">
            <a:spAutoFit/>
          </a:bodyPr>
          <a:lstStyle/>
          <a:p>
            <a:r>
              <a:rPr lang="en-US" sz="1300" dirty="0">
                <a:solidFill>
                  <a:schemeClr val="bg1">
                    <a:lumMod val="95000"/>
                  </a:schemeClr>
                </a:solidFill>
              </a:rPr>
              <a:t>Are certain student groups being systematically left behind?</a:t>
            </a:r>
          </a:p>
        </p:txBody>
      </p:sp>
      <p:pic>
        <p:nvPicPr>
          <p:cNvPr id="45" name="Picture 44" descr="A blue butterfly on a black background&#10;&#10;AI-generated content may be incorrect.">
            <a:extLst>
              <a:ext uri="{FF2B5EF4-FFF2-40B4-BE49-F238E27FC236}">
                <a16:creationId xmlns:a16="http://schemas.microsoft.com/office/drawing/2014/main" id="{83F321B9-8F33-9760-6966-68CCB52B0F6B}"/>
              </a:ext>
            </a:extLst>
          </p:cNvPr>
          <p:cNvPicPr>
            <a:picLocks noChangeAspect="1"/>
          </p:cNvPicPr>
          <p:nvPr/>
        </p:nvPicPr>
        <p:blipFill>
          <a:blip r:embed="rId3"/>
          <a:stretch>
            <a:fillRect/>
          </a:stretch>
        </p:blipFill>
        <p:spPr>
          <a:xfrm>
            <a:off x="7990672" y="32004"/>
            <a:ext cx="1407117" cy="8433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p:cNvSpPr/>
          <p:nvPr/>
        </p:nvSpPr>
        <p:spPr>
          <a:xfrm>
            <a:off x="411480" y="347472"/>
            <a:ext cx="8321040" cy="457200"/>
          </a:xfrm>
          <a:prstGeom prst="rect">
            <a:avLst/>
          </a:prstGeom>
          <a:noFill/>
          <a:ln/>
        </p:spPr>
        <p:txBody>
          <a:bodyPr wrap="square" lIns="0" tIns="0" rIns="0" bIns="0" rtlCol="0" anchor="ctr"/>
          <a:lstStyle/>
          <a:p>
            <a:pPr marL="0" indent="0">
              <a:buNone/>
            </a:pPr>
            <a:r>
              <a:rPr lang="en-US" sz="2200" b="1" dirty="0">
                <a:solidFill>
                  <a:srgbClr val="0D2B3E"/>
                </a:solidFill>
                <a:latin typeface="Calibri" pitchFamily="34" charset="0"/>
                <a:ea typeface="Calibri" pitchFamily="34" charset="-122"/>
                <a:cs typeface="Calibri" pitchFamily="34" charset="-120"/>
              </a:rPr>
              <a:t>The dataset I used</a:t>
            </a:r>
            <a:endParaRPr lang="en-US" sz="2200" dirty="0"/>
          </a:p>
        </p:txBody>
      </p:sp>
      <p:sp>
        <p:nvSpPr>
          <p:cNvPr id="6" name="Shape 4"/>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sp>
        <p:nvSpPr>
          <p:cNvPr id="29" name="TextBox 28">
            <a:extLst>
              <a:ext uri="{FF2B5EF4-FFF2-40B4-BE49-F238E27FC236}">
                <a16:creationId xmlns:a16="http://schemas.microsoft.com/office/drawing/2014/main" id="{154C510F-8FAB-BA8D-72F6-44AD96EA9CDD}"/>
              </a:ext>
            </a:extLst>
          </p:cNvPr>
          <p:cNvSpPr txBox="1"/>
          <p:nvPr/>
        </p:nvSpPr>
        <p:spPr>
          <a:xfrm>
            <a:off x="327170" y="914400"/>
            <a:ext cx="8170877" cy="692497"/>
          </a:xfrm>
          <a:prstGeom prst="rect">
            <a:avLst/>
          </a:prstGeom>
          <a:noFill/>
        </p:spPr>
        <p:txBody>
          <a:bodyPr wrap="square" rtlCol="0">
            <a:spAutoFit/>
          </a:bodyPr>
          <a:lstStyle/>
          <a:p>
            <a:r>
              <a:rPr lang="en-US" sz="1300" dirty="0"/>
              <a:t>To demonstrate this analytics framework, I built a fully synthetic dataset modeled on real IPEDS and NCES public education data. The dataset powers an interactive Power BI dashboard and a machine learning model, both available at: github.com/nishaanjoshi0/campusevolve-pathways-analytics</a:t>
            </a:r>
          </a:p>
        </p:txBody>
      </p:sp>
      <p:sp>
        <p:nvSpPr>
          <p:cNvPr id="31" name="Rounded Rectangle 30">
            <a:extLst>
              <a:ext uri="{FF2B5EF4-FFF2-40B4-BE49-F238E27FC236}">
                <a16:creationId xmlns:a16="http://schemas.microsoft.com/office/drawing/2014/main" id="{ECBA6588-AD3A-E006-8FD0-8AD730973DA7}"/>
              </a:ext>
            </a:extLst>
          </p:cNvPr>
          <p:cNvSpPr/>
          <p:nvPr/>
        </p:nvSpPr>
        <p:spPr>
          <a:xfrm>
            <a:off x="583999" y="1699847"/>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7" name="Rounded Rectangle 36">
            <a:extLst>
              <a:ext uri="{FF2B5EF4-FFF2-40B4-BE49-F238E27FC236}">
                <a16:creationId xmlns:a16="http://schemas.microsoft.com/office/drawing/2014/main" id="{501D7793-9704-FA46-0F08-156FE74867F4}"/>
              </a:ext>
            </a:extLst>
          </p:cNvPr>
          <p:cNvSpPr/>
          <p:nvPr/>
        </p:nvSpPr>
        <p:spPr>
          <a:xfrm>
            <a:off x="583999" y="2256310"/>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8" name="Rounded Rectangle 37">
            <a:extLst>
              <a:ext uri="{FF2B5EF4-FFF2-40B4-BE49-F238E27FC236}">
                <a16:creationId xmlns:a16="http://schemas.microsoft.com/office/drawing/2014/main" id="{C0CD5F29-685F-DC8D-0F6B-92AC21436C80}"/>
              </a:ext>
            </a:extLst>
          </p:cNvPr>
          <p:cNvSpPr/>
          <p:nvPr/>
        </p:nvSpPr>
        <p:spPr>
          <a:xfrm>
            <a:off x="583999" y="2798651"/>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39" name="Rounded Rectangle 38">
            <a:extLst>
              <a:ext uri="{FF2B5EF4-FFF2-40B4-BE49-F238E27FC236}">
                <a16:creationId xmlns:a16="http://schemas.microsoft.com/office/drawing/2014/main" id="{8F4C6014-242C-4F17-74A8-76256E4B35BC}"/>
              </a:ext>
            </a:extLst>
          </p:cNvPr>
          <p:cNvSpPr/>
          <p:nvPr/>
        </p:nvSpPr>
        <p:spPr>
          <a:xfrm>
            <a:off x="583998" y="3358344"/>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spcAft>
                <a:spcPts val="200"/>
              </a:spcAft>
              <a:defRPr sz="1300" b="1">
                <a:solidFill>
                  <a:srgbClr val="00B5C8"/>
                </a:solidFill>
                <a:latin typeface="Calibri"/>
              </a:defRPr>
            </a:pPr>
            <a:r>
              <a:rPr lang="en-US" dirty="0">
                <a:solidFill>
                  <a:schemeClr val="bg1">
                    <a:lumMod val="95000"/>
                  </a:schemeClr>
                </a:solidFill>
              </a:rPr>
              <a:t>219,000+ Enrollment Records</a:t>
            </a:r>
          </a:p>
        </p:txBody>
      </p:sp>
      <p:sp>
        <p:nvSpPr>
          <p:cNvPr id="40" name="Rounded Rectangle 39">
            <a:extLst>
              <a:ext uri="{FF2B5EF4-FFF2-40B4-BE49-F238E27FC236}">
                <a16:creationId xmlns:a16="http://schemas.microsoft.com/office/drawing/2014/main" id="{508D25B8-013A-EFB5-BE29-E38C7D14D9B9}"/>
              </a:ext>
            </a:extLst>
          </p:cNvPr>
          <p:cNvSpPr/>
          <p:nvPr/>
        </p:nvSpPr>
        <p:spPr>
          <a:xfrm>
            <a:off x="583997" y="3914807"/>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spcAft>
                <a:spcPts val="200"/>
              </a:spcAft>
              <a:defRPr sz="1300" b="1">
                <a:solidFill>
                  <a:srgbClr val="00B5C8"/>
                </a:solidFill>
                <a:latin typeface="Calibri"/>
              </a:defRPr>
            </a:pPr>
            <a:r>
              <a:rPr lang="en-US" dirty="0">
                <a:solidFill>
                  <a:schemeClr val="bg1">
                    <a:lumMod val="95000"/>
                  </a:schemeClr>
                </a:solidFill>
              </a:rPr>
              <a:t>5 Enrollment Years (2018–2022)</a:t>
            </a:r>
          </a:p>
        </p:txBody>
      </p:sp>
      <p:sp>
        <p:nvSpPr>
          <p:cNvPr id="41" name="Rounded Rectangle 40">
            <a:extLst>
              <a:ext uri="{FF2B5EF4-FFF2-40B4-BE49-F238E27FC236}">
                <a16:creationId xmlns:a16="http://schemas.microsoft.com/office/drawing/2014/main" id="{387E3521-393C-4249-00E1-13F0E4BED07E}"/>
              </a:ext>
            </a:extLst>
          </p:cNvPr>
          <p:cNvSpPr/>
          <p:nvPr/>
        </p:nvSpPr>
        <p:spPr>
          <a:xfrm>
            <a:off x="583997" y="4491113"/>
            <a:ext cx="2950157" cy="43934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spcAft>
                <a:spcPts val="200"/>
              </a:spcAft>
              <a:defRPr sz="1300" b="1">
                <a:solidFill>
                  <a:srgbClr val="00B5C8"/>
                </a:solidFill>
                <a:latin typeface="Calibri"/>
              </a:defRPr>
            </a:pPr>
            <a:r>
              <a:rPr lang="en-US" dirty="0">
                <a:solidFill>
                  <a:schemeClr val="bg1">
                    <a:lumMod val="95000"/>
                  </a:schemeClr>
                </a:solidFill>
              </a:rPr>
              <a:t>4 Risk Signal Types</a:t>
            </a:r>
          </a:p>
        </p:txBody>
      </p:sp>
      <p:sp>
        <p:nvSpPr>
          <p:cNvPr id="42" name="TextBox 41">
            <a:extLst>
              <a:ext uri="{FF2B5EF4-FFF2-40B4-BE49-F238E27FC236}">
                <a16:creationId xmlns:a16="http://schemas.microsoft.com/office/drawing/2014/main" id="{BB292431-E645-9BBC-995C-01138DA2023F}"/>
              </a:ext>
            </a:extLst>
          </p:cNvPr>
          <p:cNvSpPr txBox="1"/>
          <p:nvPr/>
        </p:nvSpPr>
        <p:spPr>
          <a:xfrm>
            <a:off x="1319460" y="1753064"/>
            <a:ext cx="2214694" cy="323165"/>
          </a:xfrm>
          <a:prstGeom prst="rect">
            <a:avLst/>
          </a:prstGeom>
          <a:noFill/>
        </p:spPr>
        <p:txBody>
          <a:bodyPr wrap="square" rtlCol="0">
            <a:spAutoFit/>
          </a:bodyPr>
          <a:lstStyle/>
          <a:p>
            <a:r>
              <a:rPr lang="en-US" sz="1500" dirty="0">
                <a:solidFill>
                  <a:schemeClr val="bg1">
                    <a:lumMod val="95000"/>
                  </a:schemeClr>
                </a:solidFill>
              </a:rPr>
              <a:t>50,000 students</a:t>
            </a:r>
          </a:p>
        </p:txBody>
      </p:sp>
      <p:sp>
        <p:nvSpPr>
          <p:cNvPr id="43" name="TextBox 42">
            <a:extLst>
              <a:ext uri="{FF2B5EF4-FFF2-40B4-BE49-F238E27FC236}">
                <a16:creationId xmlns:a16="http://schemas.microsoft.com/office/drawing/2014/main" id="{DB04ECA9-FADD-9993-8E79-E23ED8E424A3}"/>
              </a:ext>
            </a:extLst>
          </p:cNvPr>
          <p:cNvSpPr txBox="1"/>
          <p:nvPr/>
        </p:nvSpPr>
        <p:spPr>
          <a:xfrm>
            <a:off x="951728" y="2324322"/>
            <a:ext cx="2214694" cy="323165"/>
          </a:xfrm>
          <a:prstGeom prst="rect">
            <a:avLst/>
          </a:prstGeom>
          <a:noFill/>
        </p:spPr>
        <p:txBody>
          <a:bodyPr wrap="square" rtlCol="0">
            <a:spAutoFit/>
          </a:bodyPr>
          <a:lstStyle/>
          <a:p>
            <a:r>
              <a:rPr lang="en-US" sz="1500" dirty="0">
                <a:solidFill>
                  <a:schemeClr val="bg1">
                    <a:lumMod val="95000"/>
                  </a:schemeClr>
                </a:solidFill>
              </a:rPr>
              <a:t>6 interconnected tables</a:t>
            </a:r>
          </a:p>
        </p:txBody>
      </p:sp>
      <p:sp>
        <p:nvSpPr>
          <p:cNvPr id="44" name="TextBox 43">
            <a:extLst>
              <a:ext uri="{FF2B5EF4-FFF2-40B4-BE49-F238E27FC236}">
                <a16:creationId xmlns:a16="http://schemas.microsoft.com/office/drawing/2014/main" id="{CF46C8B1-766B-E86A-3280-0E5123D90C59}"/>
              </a:ext>
            </a:extLst>
          </p:cNvPr>
          <p:cNvSpPr txBox="1"/>
          <p:nvPr/>
        </p:nvSpPr>
        <p:spPr>
          <a:xfrm>
            <a:off x="951728" y="2887867"/>
            <a:ext cx="2214694" cy="292388"/>
          </a:xfrm>
          <a:prstGeom prst="rect">
            <a:avLst/>
          </a:prstGeom>
          <a:noFill/>
        </p:spPr>
        <p:txBody>
          <a:bodyPr wrap="square" rtlCol="0">
            <a:spAutoFit/>
          </a:bodyPr>
          <a:lstStyle/>
          <a:p>
            <a:pPr algn="ctr">
              <a:spcAft>
                <a:spcPts val="200"/>
              </a:spcAft>
              <a:defRPr sz="1300" b="1">
                <a:solidFill>
                  <a:srgbClr val="00B5C8"/>
                </a:solidFill>
                <a:latin typeface="Calibri"/>
              </a:defRPr>
            </a:pPr>
            <a:r>
              <a:rPr lang="en-US" sz="1300" dirty="0">
                <a:solidFill>
                  <a:schemeClr val="bg1">
                    <a:lumMod val="95000"/>
                  </a:schemeClr>
                </a:solidFill>
              </a:rPr>
              <a:t>841,000+ Course Records</a:t>
            </a:r>
          </a:p>
        </p:txBody>
      </p:sp>
      <p:pic>
        <p:nvPicPr>
          <p:cNvPr id="46" name="Picture 45" descr="A diagram of students&#10;&#10;AI-generated content may be incorrect.">
            <a:extLst>
              <a:ext uri="{FF2B5EF4-FFF2-40B4-BE49-F238E27FC236}">
                <a16:creationId xmlns:a16="http://schemas.microsoft.com/office/drawing/2014/main" id="{8EC0DA0A-7070-A501-87F5-7AD0FCFDAD92}"/>
              </a:ext>
            </a:extLst>
          </p:cNvPr>
          <p:cNvPicPr>
            <a:picLocks noChangeAspect="1"/>
          </p:cNvPicPr>
          <p:nvPr/>
        </p:nvPicPr>
        <p:blipFill>
          <a:blip r:embed="rId3"/>
          <a:stretch>
            <a:fillRect/>
          </a:stretch>
        </p:blipFill>
        <p:spPr>
          <a:xfrm>
            <a:off x="4513277" y="1716625"/>
            <a:ext cx="3573885" cy="3573885"/>
          </a:xfrm>
          <a:prstGeom prst="rect">
            <a:avLst/>
          </a:prstGeom>
        </p:spPr>
      </p:pic>
      <p:sp>
        <p:nvSpPr>
          <p:cNvPr id="48" name="Rounded Rectangle 47">
            <a:extLst>
              <a:ext uri="{FF2B5EF4-FFF2-40B4-BE49-F238E27FC236}">
                <a16:creationId xmlns:a16="http://schemas.microsoft.com/office/drawing/2014/main" id="{F17A92A4-6DBE-1356-F7CC-2216A81BD280}"/>
              </a:ext>
            </a:extLst>
          </p:cNvPr>
          <p:cNvSpPr/>
          <p:nvPr/>
        </p:nvSpPr>
        <p:spPr>
          <a:xfrm>
            <a:off x="5372319" y="1618714"/>
            <a:ext cx="1855799" cy="372327"/>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Star Schema</a:t>
            </a:r>
          </a:p>
        </p:txBody>
      </p:sp>
      <p:pic>
        <p:nvPicPr>
          <p:cNvPr id="49" name="Picture 48" descr="A blue butterfly on a black background&#10;&#10;AI-generated content may be incorrect.">
            <a:extLst>
              <a:ext uri="{FF2B5EF4-FFF2-40B4-BE49-F238E27FC236}">
                <a16:creationId xmlns:a16="http://schemas.microsoft.com/office/drawing/2014/main" id="{AA0B9D61-F2D5-0C66-31B7-D82AE9B44E8C}"/>
              </a:ext>
            </a:extLst>
          </p:cNvPr>
          <p:cNvPicPr>
            <a:picLocks noChangeAspect="1"/>
          </p:cNvPicPr>
          <p:nvPr/>
        </p:nvPicPr>
        <p:blipFill>
          <a:blip r:embed="rId4"/>
          <a:stretch>
            <a:fillRect/>
          </a:stretch>
        </p:blipFill>
        <p:spPr>
          <a:xfrm>
            <a:off x="7990672" y="32004"/>
            <a:ext cx="1407117" cy="8433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p:cNvSpPr/>
          <p:nvPr/>
        </p:nvSpPr>
        <p:spPr>
          <a:xfrm>
            <a:off x="411480" y="347472"/>
            <a:ext cx="8321040" cy="457200"/>
          </a:xfrm>
          <a:prstGeom prst="rect">
            <a:avLst/>
          </a:prstGeom>
          <a:noFill/>
          <a:ln/>
        </p:spPr>
        <p:txBody>
          <a:bodyPr wrap="square" lIns="0" tIns="0" rIns="0" bIns="0" rtlCol="0" anchor="ctr"/>
          <a:lstStyle/>
          <a:p>
            <a:r>
              <a:rPr lang="en-US" sz="2200" b="1" dirty="0">
                <a:solidFill>
                  <a:srgbClr val="0D2B3E"/>
                </a:solidFill>
                <a:latin typeface="Calibri" pitchFamily="34" charset="0"/>
                <a:ea typeface="Calibri" pitchFamily="34" charset="-122"/>
                <a:cs typeface="Calibri" pitchFamily="34" charset="-120"/>
              </a:rPr>
              <a:t>Who completes and why?</a:t>
            </a:r>
            <a:endParaRPr lang="en-US" sz="2200" dirty="0"/>
          </a:p>
        </p:txBody>
      </p:sp>
      <p:sp>
        <p:nvSpPr>
          <p:cNvPr id="6" name="Shape 4"/>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2" name="Picture 41" descr="A graph of blue lines&#10;&#10;AI-generated content may be incorrect.">
            <a:extLst>
              <a:ext uri="{FF2B5EF4-FFF2-40B4-BE49-F238E27FC236}">
                <a16:creationId xmlns:a16="http://schemas.microsoft.com/office/drawing/2014/main" id="{60866D06-1FC2-BF4E-7A25-8D96BF0FFCD6}"/>
              </a:ext>
            </a:extLst>
          </p:cNvPr>
          <p:cNvPicPr>
            <a:picLocks noChangeAspect="1"/>
          </p:cNvPicPr>
          <p:nvPr/>
        </p:nvPicPr>
        <p:blipFill>
          <a:blip r:embed="rId3"/>
          <a:stretch>
            <a:fillRect/>
          </a:stretch>
        </p:blipFill>
        <p:spPr>
          <a:xfrm>
            <a:off x="495242" y="1088136"/>
            <a:ext cx="3713424" cy="1927027"/>
          </a:xfrm>
          <a:prstGeom prst="rect">
            <a:avLst/>
          </a:prstGeom>
        </p:spPr>
      </p:pic>
      <p:pic>
        <p:nvPicPr>
          <p:cNvPr id="43" name="Picture 42" descr="A blue butterfly on a black background&#10;&#10;AI-generated content may be incorrect.">
            <a:extLst>
              <a:ext uri="{FF2B5EF4-FFF2-40B4-BE49-F238E27FC236}">
                <a16:creationId xmlns:a16="http://schemas.microsoft.com/office/drawing/2014/main" id="{72EA8FE3-F738-4E3E-0CC2-6BF397E1BA10}"/>
              </a:ext>
            </a:extLst>
          </p:cNvPr>
          <p:cNvPicPr>
            <a:picLocks noChangeAspect="1"/>
          </p:cNvPicPr>
          <p:nvPr/>
        </p:nvPicPr>
        <p:blipFill>
          <a:blip r:embed="rId4"/>
          <a:stretch>
            <a:fillRect/>
          </a:stretch>
        </p:blipFill>
        <p:spPr>
          <a:xfrm>
            <a:off x="7990672" y="32004"/>
            <a:ext cx="1407117" cy="843396"/>
          </a:xfrm>
          <a:prstGeom prst="rect">
            <a:avLst/>
          </a:prstGeom>
        </p:spPr>
      </p:pic>
      <p:pic>
        <p:nvPicPr>
          <p:cNvPr id="45" name="Picture 44" descr="A graph of blue bars&#10;&#10;AI-generated content may be incorrect.">
            <a:extLst>
              <a:ext uri="{FF2B5EF4-FFF2-40B4-BE49-F238E27FC236}">
                <a16:creationId xmlns:a16="http://schemas.microsoft.com/office/drawing/2014/main" id="{1956A723-F70C-D9C3-3CA0-4B5A465A0E3B}"/>
              </a:ext>
            </a:extLst>
          </p:cNvPr>
          <p:cNvPicPr>
            <a:picLocks noChangeAspect="1"/>
          </p:cNvPicPr>
          <p:nvPr/>
        </p:nvPicPr>
        <p:blipFill>
          <a:blip r:embed="rId5"/>
          <a:stretch>
            <a:fillRect/>
          </a:stretch>
        </p:blipFill>
        <p:spPr>
          <a:xfrm>
            <a:off x="5119013" y="1088136"/>
            <a:ext cx="2929081" cy="1927027"/>
          </a:xfrm>
          <a:prstGeom prst="rect">
            <a:avLst/>
          </a:prstGeom>
        </p:spPr>
      </p:pic>
      <p:sp>
        <p:nvSpPr>
          <p:cNvPr id="46" name="TextBox 45">
            <a:extLst>
              <a:ext uri="{FF2B5EF4-FFF2-40B4-BE49-F238E27FC236}">
                <a16:creationId xmlns:a16="http://schemas.microsoft.com/office/drawing/2014/main" id="{9C6FC40A-1DE6-4D6F-35C7-2D5637FB2F35}"/>
              </a:ext>
            </a:extLst>
          </p:cNvPr>
          <p:cNvSpPr txBox="1"/>
          <p:nvPr/>
        </p:nvSpPr>
        <p:spPr>
          <a:xfrm>
            <a:off x="411480" y="3225231"/>
            <a:ext cx="8094957" cy="492443"/>
          </a:xfrm>
          <a:prstGeom prst="rect">
            <a:avLst/>
          </a:prstGeom>
          <a:noFill/>
        </p:spPr>
        <p:txBody>
          <a:bodyPr wrap="square" rtlCol="0">
            <a:spAutoFit/>
          </a:bodyPr>
          <a:lstStyle/>
          <a:p>
            <a:r>
              <a:rPr lang="en-US" sz="1300" dirty="0"/>
              <a:t>Bootcamp and Certificate programs have the highest completion rates at 72% and 67% respectively, while Associate programs lag at 42%. Notably, institution type shows almost no variation, all four types cluster around 58-59%.</a:t>
            </a:r>
          </a:p>
        </p:txBody>
      </p:sp>
      <p:sp>
        <p:nvSpPr>
          <p:cNvPr id="47" name="TextBox 46">
            <a:extLst>
              <a:ext uri="{FF2B5EF4-FFF2-40B4-BE49-F238E27FC236}">
                <a16:creationId xmlns:a16="http://schemas.microsoft.com/office/drawing/2014/main" id="{6D513376-A1C7-96E7-2E0F-D65B55992453}"/>
              </a:ext>
            </a:extLst>
          </p:cNvPr>
          <p:cNvSpPr txBox="1"/>
          <p:nvPr/>
        </p:nvSpPr>
        <p:spPr>
          <a:xfrm>
            <a:off x="381908" y="4103531"/>
            <a:ext cx="8154099" cy="692497"/>
          </a:xfrm>
          <a:prstGeom prst="rect">
            <a:avLst/>
          </a:prstGeom>
          <a:noFill/>
        </p:spPr>
        <p:txBody>
          <a:bodyPr wrap="square" rtlCol="0">
            <a:spAutoFit/>
          </a:bodyPr>
          <a:lstStyle/>
          <a:p>
            <a:r>
              <a:rPr lang="en-US" sz="1300" b="1" dirty="0"/>
              <a:t>Recommendation</a:t>
            </a:r>
            <a:r>
              <a:rPr lang="en-US" sz="1300" dirty="0"/>
              <a:t>: Invest more resources in supporting Associate and Bachelor students through their programs. Shorter credential programs like Bootcamp and Certificate already perform well. The biggest opportunity to move the needle is in the longer programs where dropout is highest.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C17CD099-2971-061A-9971-A08464BCD5B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904E83-8411-3AA7-BD2B-18A773082FB5}"/>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E1C2414F-2877-4E7C-F565-091E2EC586A3}"/>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638D95C2-57CD-7C31-278A-94B31C60D7D8}"/>
              </a:ext>
            </a:extLst>
          </p:cNvPr>
          <p:cNvSpPr/>
          <p:nvPr/>
        </p:nvSpPr>
        <p:spPr>
          <a:xfrm>
            <a:off x="411480" y="347472"/>
            <a:ext cx="8321040" cy="457200"/>
          </a:xfrm>
          <a:prstGeom prst="rect">
            <a:avLst/>
          </a:prstGeom>
          <a:noFill/>
          <a:ln/>
        </p:spPr>
        <p:txBody>
          <a:bodyPr wrap="square" lIns="0" tIns="0" rIns="0" bIns="0" rtlCol="0" anchor="ctr"/>
          <a:lstStyle/>
          <a:p>
            <a:r>
              <a:rPr lang="en-US" sz="2200" b="1" dirty="0">
                <a:solidFill>
                  <a:srgbClr val="0D2B3E"/>
                </a:solidFill>
                <a:latin typeface="Calibri" pitchFamily="34" charset="0"/>
                <a:ea typeface="Calibri" pitchFamily="34" charset="-122"/>
                <a:cs typeface="Calibri" pitchFamily="34" charset="-120"/>
              </a:rPr>
              <a:t>Is the mission improving over time? </a:t>
            </a:r>
            <a:endParaRPr lang="en-US" sz="2200" dirty="0"/>
          </a:p>
        </p:txBody>
      </p:sp>
      <p:sp>
        <p:nvSpPr>
          <p:cNvPr id="6" name="Shape 4">
            <a:extLst>
              <a:ext uri="{FF2B5EF4-FFF2-40B4-BE49-F238E27FC236}">
                <a16:creationId xmlns:a16="http://schemas.microsoft.com/office/drawing/2014/main" id="{1621AE8B-7B90-08DA-C262-B86838ACE291}"/>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9F9007B8-C3ED-4702-A477-57FE6EC9064C}"/>
              </a:ext>
            </a:extLst>
          </p:cNvPr>
          <p:cNvPicPr>
            <a:picLocks noChangeAspect="1"/>
          </p:cNvPicPr>
          <p:nvPr/>
        </p:nvPicPr>
        <p:blipFill>
          <a:blip r:embed="rId3"/>
          <a:stretch>
            <a:fillRect/>
          </a:stretch>
        </p:blipFill>
        <p:spPr>
          <a:xfrm>
            <a:off x="7990672" y="32004"/>
            <a:ext cx="1407117" cy="843396"/>
          </a:xfrm>
          <a:prstGeom prst="rect">
            <a:avLst/>
          </a:prstGeom>
        </p:spPr>
      </p:pic>
      <p:sp>
        <p:nvSpPr>
          <p:cNvPr id="46" name="TextBox 45">
            <a:extLst>
              <a:ext uri="{FF2B5EF4-FFF2-40B4-BE49-F238E27FC236}">
                <a16:creationId xmlns:a16="http://schemas.microsoft.com/office/drawing/2014/main" id="{B06375BB-0F6F-27F5-13AA-533DFEAA6CAB}"/>
              </a:ext>
            </a:extLst>
          </p:cNvPr>
          <p:cNvSpPr txBox="1"/>
          <p:nvPr/>
        </p:nvSpPr>
        <p:spPr>
          <a:xfrm>
            <a:off x="411480" y="3078927"/>
            <a:ext cx="8124527" cy="954107"/>
          </a:xfrm>
          <a:prstGeom prst="rect">
            <a:avLst/>
          </a:prstGeom>
          <a:noFill/>
        </p:spPr>
        <p:txBody>
          <a:bodyPr wrap="square" rtlCol="0">
            <a:spAutoFit/>
          </a:bodyPr>
          <a:lstStyle/>
          <a:p>
            <a:r>
              <a:rPr lang="en-US" sz="1400" dirty="0"/>
              <a:t>Pathway achievement held steady between 38-38.5% from 2018 to 2021 before dipping in 2022. The dip is not a performance decline; it reflects recent enrollees who simply haven't had enough time to complete their programs yet. Only 38% of students achieve the full pathway of completing their program and finding employment within 6 months.</a:t>
            </a:r>
            <a:endParaRPr lang="en-US" sz="1300" dirty="0"/>
          </a:p>
        </p:txBody>
      </p:sp>
      <p:sp>
        <p:nvSpPr>
          <p:cNvPr id="47" name="TextBox 46">
            <a:extLst>
              <a:ext uri="{FF2B5EF4-FFF2-40B4-BE49-F238E27FC236}">
                <a16:creationId xmlns:a16="http://schemas.microsoft.com/office/drawing/2014/main" id="{38EC530E-0328-5CA5-D4B4-B03D36E1827E}"/>
              </a:ext>
            </a:extLst>
          </p:cNvPr>
          <p:cNvSpPr txBox="1"/>
          <p:nvPr/>
        </p:nvSpPr>
        <p:spPr>
          <a:xfrm>
            <a:off x="381908" y="4103531"/>
            <a:ext cx="8154099" cy="692497"/>
          </a:xfrm>
          <a:prstGeom prst="rect">
            <a:avLst/>
          </a:prstGeom>
          <a:noFill/>
        </p:spPr>
        <p:txBody>
          <a:bodyPr wrap="square" rtlCol="0">
            <a:spAutoFit/>
          </a:bodyPr>
          <a:lstStyle/>
          <a:p>
            <a:r>
              <a:rPr lang="en-US" sz="1300" b="1" dirty="0"/>
              <a:t>Recommendation</a:t>
            </a:r>
            <a:r>
              <a:rPr lang="en-US" sz="1300" dirty="0"/>
              <a:t>: Pathway achievement has been flat at 38% for 4 years. To move this number, the focus should be on converting the 42% who complete their program but don't find employment within 6 months. Career services, employer partnerships, and job placement support are the highest leverage interventions here.</a:t>
            </a:r>
          </a:p>
        </p:txBody>
      </p:sp>
      <p:pic>
        <p:nvPicPr>
          <p:cNvPr id="7" name="Picture 6" descr="A graph with a line going up&#10;&#10;AI-generated content may be incorrect.">
            <a:extLst>
              <a:ext uri="{FF2B5EF4-FFF2-40B4-BE49-F238E27FC236}">
                <a16:creationId xmlns:a16="http://schemas.microsoft.com/office/drawing/2014/main" id="{A1F17F05-4066-43DF-58EB-CA5C344EE1D6}"/>
              </a:ext>
            </a:extLst>
          </p:cNvPr>
          <p:cNvPicPr>
            <a:picLocks noChangeAspect="1"/>
          </p:cNvPicPr>
          <p:nvPr/>
        </p:nvPicPr>
        <p:blipFill>
          <a:blip r:embed="rId4"/>
          <a:stretch>
            <a:fillRect/>
          </a:stretch>
        </p:blipFill>
        <p:spPr>
          <a:xfrm>
            <a:off x="411480" y="1061481"/>
            <a:ext cx="3173252" cy="1833789"/>
          </a:xfrm>
          <a:prstGeom prst="rect">
            <a:avLst/>
          </a:prstGeom>
        </p:spPr>
      </p:pic>
      <p:pic>
        <p:nvPicPr>
          <p:cNvPr id="10" name="Picture 9" descr="A blue rectangles with white text&#10;&#10;AI-generated content may be incorrect.">
            <a:extLst>
              <a:ext uri="{FF2B5EF4-FFF2-40B4-BE49-F238E27FC236}">
                <a16:creationId xmlns:a16="http://schemas.microsoft.com/office/drawing/2014/main" id="{E74F9480-EC2F-462C-F430-96C95BF18743}"/>
              </a:ext>
            </a:extLst>
          </p:cNvPr>
          <p:cNvPicPr>
            <a:picLocks noChangeAspect="1"/>
          </p:cNvPicPr>
          <p:nvPr/>
        </p:nvPicPr>
        <p:blipFill>
          <a:blip r:embed="rId5"/>
          <a:stretch>
            <a:fillRect/>
          </a:stretch>
        </p:blipFill>
        <p:spPr>
          <a:xfrm>
            <a:off x="4458957" y="1142689"/>
            <a:ext cx="3354070" cy="1839329"/>
          </a:xfrm>
          <a:prstGeom prst="rect">
            <a:avLst/>
          </a:prstGeom>
        </p:spPr>
      </p:pic>
    </p:spTree>
    <p:extLst>
      <p:ext uri="{BB962C8B-B14F-4D97-AF65-F5344CB8AC3E}">
        <p14:creationId xmlns:p14="http://schemas.microsoft.com/office/powerpoint/2010/main" val="97112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3151E5C7-7D3A-91FD-412D-B742D6CBCD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2E9B94D-2BEB-B86B-6677-3F1BB033B4F1}"/>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3A56DC3C-6FA6-349E-23B6-EE5B7F6643F4}"/>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9E97311C-348B-B36B-DC0B-31DCA87AEA51}"/>
              </a:ext>
            </a:extLst>
          </p:cNvPr>
          <p:cNvSpPr/>
          <p:nvPr/>
        </p:nvSpPr>
        <p:spPr>
          <a:xfrm>
            <a:off x="411480" y="347472"/>
            <a:ext cx="8321040" cy="457200"/>
          </a:xfrm>
          <a:prstGeom prst="rect">
            <a:avLst/>
          </a:prstGeom>
          <a:noFill/>
          <a:ln/>
        </p:spPr>
        <p:txBody>
          <a:bodyPr wrap="square" lIns="0" tIns="0" rIns="0" bIns="0" rtlCol="0" anchor="ctr"/>
          <a:lstStyle/>
          <a:p>
            <a:r>
              <a:rPr lang="en-US" sz="2400" b="1" dirty="0"/>
              <a:t>Who is at risk?</a:t>
            </a:r>
            <a:r>
              <a:rPr lang="en-US" sz="2400" dirty="0"/>
              <a:t> </a:t>
            </a:r>
            <a:endParaRPr lang="en-US" sz="2200" dirty="0"/>
          </a:p>
        </p:txBody>
      </p:sp>
      <p:sp>
        <p:nvSpPr>
          <p:cNvPr id="6" name="Shape 4">
            <a:extLst>
              <a:ext uri="{FF2B5EF4-FFF2-40B4-BE49-F238E27FC236}">
                <a16:creationId xmlns:a16="http://schemas.microsoft.com/office/drawing/2014/main" id="{42C8AA15-39AA-BCCE-7DE2-8A6F7466D123}"/>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7F85CBBD-73C6-3B90-7733-C4ED2EB59DD9}"/>
              </a:ext>
            </a:extLst>
          </p:cNvPr>
          <p:cNvPicPr>
            <a:picLocks noChangeAspect="1"/>
          </p:cNvPicPr>
          <p:nvPr/>
        </p:nvPicPr>
        <p:blipFill>
          <a:blip r:embed="rId3"/>
          <a:stretch>
            <a:fillRect/>
          </a:stretch>
        </p:blipFill>
        <p:spPr>
          <a:xfrm>
            <a:off x="7990672" y="32004"/>
            <a:ext cx="1407117" cy="843396"/>
          </a:xfrm>
          <a:prstGeom prst="rect">
            <a:avLst/>
          </a:prstGeom>
        </p:spPr>
      </p:pic>
      <p:sp>
        <p:nvSpPr>
          <p:cNvPr id="46" name="TextBox 45">
            <a:extLst>
              <a:ext uri="{FF2B5EF4-FFF2-40B4-BE49-F238E27FC236}">
                <a16:creationId xmlns:a16="http://schemas.microsoft.com/office/drawing/2014/main" id="{8EADB0D4-FAAB-3124-6CB1-E8D5B822DE8F}"/>
              </a:ext>
            </a:extLst>
          </p:cNvPr>
          <p:cNvSpPr txBox="1"/>
          <p:nvPr/>
        </p:nvSpPr>
        <p:spPr>
          <a:xfrm>
            <a:off x="411480" y="3078927"/>
            <a:ext cx="8124527" cy="954107"/>
          </a:xfrm>
          <a:prstGeom prst="rect">
            <a:avLst/>
          </a:prstGeom>
          <a:noFill/>
        </p:spPr>
        <p:txBody>
          <a:bodyPr wrap="square" rtlCol="0">
            <a:spAutoFit/>
          </a:bodyPr>
          <a:lstStyle/>
          <a:p>
            <a:r>
              <a:rPr lang="en-US" sz="1400" dirty="0"/>
              <a:t>44% of students fall into the High-risk tier based on four early warning signals: GPA below 2.0, mid-semester withdrawal, financial aid gap, and gateway course failure. Counterintuitively, High risk students complete at 62% while Medium risk students only complete at 40%, suggesting current interventions are reaching High risk students but Medium risk students are being overlooked. </a:t>
            </a:r>
            <a:endParaRPr lang="en-US" sz="1300" dirty="0"/>
          </a:p>
        </p:txBody>
      </p:sp>
      <p:sp>
        <p:nvSpPr>
          <p:cNvPr id="47" name="TextBox 46">
            <a:extLst>
              <a:ext uri="{FF2B5EF4-FFF2-40B4-BE49-F238E27FC236}">
                <a16:creationId xmlns:a16="http://schemas.microsoft.com/office/drawing/2014/main" id="{CF9BE341-9E8B-78C6-16DA-B5E3EEFE786D}"/>
              </a:ext>
            </a:extLst>
          </p:cNvPr>
          <p:cNvSpPr txBox="1"/>
          <p:nvPr/>
        </p:nvSpPr>
        <p:spPr>
          <a:xfrm>
            <a:off x="381908" y="4103531"/>
            <a:ext cx="8154099" cy="738664"/>
          </a:xfrm>
          <a:prstGeom prst="rect">
            <a:avLst/>
          </a:prstGeom>
          <a:noFill/>
        </p:spPr>
        <p:txBody>
          <a:bodyPr wrap="square" rtlCol="0">
            <a:spAutoFit/>
          </a:bodyPr>
          <a:lstStyle/>
          <a:p>
            <a:r>
              <a:rPr lang="en-US" sz="1300" b="1" dirty="0"/>
              <a:t>Recommendation</a:t>
            </a:r>
            <a:r>
              <a:rPr lang="en-US" sz="1300" dirty="0"/>
              <a:t>: </a:t>
            </a:r>
            <a:r>
              <a:rPr lang="en-US" sz="1400" dirty="0"/>
              <a:t>Shift intervention resources toward Medium risk students. High risk students are already being reached. Medium risk students are slipping through with almost no support, and their 40% completion rate shows it. Catching them earlier would have the biggest impact on overall completion rates.</a:t>
            </a:r>
            <a:endParaRPr lang="en-US" sz="1300" dirty="0"/>
          </a:p>
        </p:txBody>
      </p:sp>
      <p:pic>
        <p:nvPicPr>
          <p:cNvPr id="8" name="Picture 7" descr="A blue circle with numbers and a white background&#10;&#10;AI-generated content may be incorrect.">
            <a:extLst>
              <a:ext uri="{FF2B5EF4-FFF2-40B4-BE49-F238E27FC236}">
                <a16:creationId xmlns:a16="http://schemas.microsoft.com/office/drawing/2014/main" id="{E54F6296-6822-118D-AE09-C26A1C274BBE}"/>
              </a:ext>
            </a:extLst>
          </p:cNvPr>
          <p:cNvPicPr>
            <a:picLocks noChangeAspect="1"/>
          </p:cNvPicPr>
          <p:nvPr/>
        </p:nvPicPr>
        <p:blipFill>
          <a:blip r:embed="rId4"/>
          <a:stretch>
            <a:fillRect/>
          </a:stretch>
        </p:blipFill>
        <p:spPr>
          <a:xfrm>
            <a:off x="411480" y="1064307"/>
            <a:ext cx="2876026" cy="1825713"/>
          </a:xfrm>
          <a:prstGeom prst="rect">
            <a:avLst/>
          </a:prstGeom>
        </p:spPr>
      </p:pic>
      <p:pic>
        <p:nvPicPr>
          <p:cNvPr id="11" name="Picture 10" descr="A graph with blue bars&#10;&#10;AI-generated content may be incorrect.">
            <a:extLst>
              <a:ext uri="{FF2B5EF4-FFF2-40B4-BE49-F238E27FC236}">
                <a16:creationId xmlns:a16="http://schemas.microsoft.com/office/drawing/2014/main" id="{0437FD6C-D92C-F19D-6B5A-7DD5F624378B}"/>
              </a:ext>
            </a:extLst>
          </p:cNvPr>
          <p:cNvPicPr>
            <a:picLocks noChangeAspect="1"/>
          </p:cNvPicPr>
          <p:nvPr/>
        </p:nvPicPr>
        <p:blipFill>
          <a:blip r:embed="rId5"/>
          <a:stretch>
            <a:fillRect/>
          </a:stretch>
        </p:blipFill>
        <p:spPr>
          <a:xfrm>
            <a:off x="3887414" y="1122897"/>
            <a:ext cx="3675419" cy="1713119"/>
          </a:xfrm>
          <a:prstGeom prst="rect">
            <a:avLst/>
          </a:prstGeom>
        </p:spPr>
      </p:pic>
    </p:spTree>
    <p:extLst>
      <p:ext uri="{BB962C8B-B14F-4D97-AF65-F5344CB8AC3E}">
        <p14:creationId xmlns:p14="http://schemas.microsoft.com/office/powerpoint/2010/main" val="1845505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3617FA27-4B92-9BD9-C04D-574AF8B217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D2DCA2-BDC8-0822-1756-51171EE8C79D}"/>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1753F547-2600-51DA-A8EE-16C20F7654D5}"/>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024AE01D-6953-18F9-954E-D9C585F425F3}"/>
              </a:ext>
            </a:extLst>
          </p:cNvPr>
          <p:cNvSpPr/>
          <p:nvPr/>
        </p:nvSpPr>
        <p:spPr>
          <a:xfrm>
            <a:off x="411480" y="347472"/>
            <a:ext cx="8321040" cy="457200"/>
          </a:xfrm>
          <a:prstGeom prst="rect">
            <a:avLst/>
          </a:prstGeom>
          <a:noFill/>
          <a:ln/>
        </p:spPr>
        <p:txBody>
          <a:bodyPr wrap="square" lIns="0" tIns="0" rIns="0" bIns="0" rtlCol="0" anchor="ctr"/>
          <a:lstStyle/>
          <a:p>
            <a:r>
              <a:rPr lang="en-US" sz="2400" b="1" dirty="0"/>
              <a:t>Are interventions working?</a:t>
            </a:r>
            <a:endParaRPr lang="en-US" sz="2200" dirty="0"/>
          </a:p>
        </p:txBody>
      </p:sp>
      <p:sp>
        <p:nvSpPr>
          <p:cNvPr id="6" name="Shape 4">
            <a:extLst>
              <a:ext uri="{FF2B5EF4-FFF2-40B4-BE49-F238E27FC236}">
                <a16:creationId xmlns:a16="http://schemas.microsoft.com/office/drawing/2014/main" id="{09C4FB44-37FA-92A9-B413-AFA6054CBC66}"/>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6BDE6330-D63F-5804-73AF-AA0F5E15CAA8}"/>
              </a:ext>
            </a:extLst>
          </p:cNvPr>
          <p:cNvPicPr>
            <a:picLocks noChangeAspect="1"/>
          </p:cNvPicPr>
          <p:nvPr/>
        </p:nvPicPr>
        <p:blipFill>
          <a:blip r:embed="rId3"/>
          <a:stretch>
            <a:fillRect/>
          </a:stretch>
        </p:blipFill>
        <p:spPr>
          <a:xfrm>
            <a:off x="7990672" y="32004"/>
            <a:ext cx="1407117" cy="843396"/>
          </a:xfrm>
          <a:prstGeom prst="rect">
            <a:avLst/>
          </a:prstGeom>
        </p:spPr>
      </p:pic>
      <p:sp>
        <p:nvSpPr>
          <p:cNvPr id="46" name="TextBox 45">
            <a:extLst>
              <a:ext uri="{FF2B5EF4-FFF2-40B4-BE49-F238E27FC236}">
                <a16:creationId xmlns:a16="http://schemas.microsoft.com/office/drawing/2014/main" id="{23D36739-1607-7A9E-9270-AE629A78B833}"/>
              </a:ext>
            </a:extLst>
          </p:cNvPr>
          <p:cNvSpPr txBox="1"/>
          <p:nvPr/>
        </p:nvSpPr>
        <p:spPr>
          <a:xfrm>
            <a:off x="411480" y="3078927"/>
            <a:ext cx="8124527" cy="738664"/>
          </a:xfrm>
          <a:prstGeom prst="rect">
            <a:avLst/>
          </a:prstGeom>
          <a:noFill/>
        </p:spPr>
        <p:txBody>
          <a:bodyPr wrap="square" rtlCol="0">
            <a:spAutoFit/>
          </a:bodyPr>
          <a:lstStyle/>
          <a:p>
            <a:r>
              <a:rPr lang="en-US" sz="1400" dirty="0"/>
              <a:t>High and Medium risk students both receive interventions at 42% coverage, while Low risk students receive interventions 35% of the time. This means more than half of all at-risk students receive no intervention at all. The 22,163 High risk students represent the most urgent gap.</a:t>
            </a:r>
            <a:endParaRPr lang="en-US" sz="1300" dirty="0"/>
          </a:p>
        </p:txBody>
      </p:sp>
      <p:sp>
        <p:nvSpPr>
          <p:cNvPr id="47" name="TextBox 46">
            <a:extLst>
              <a:ext uri="{FF2B5EF4-FFF2-40B4-BE49-F238E27FC236}">
                <a16:creationId xmlns:a16="http://schemas.microsoft.com/office/drawing/2014/main" id="{DF7710A3-11E8-9A4C-BAE2-BC49D225C9CD}"/>
              </a:ext>
            </a:extLst>
          </p:cNvPr>
          <p:cNvSpPr txBox="1"/>
          <p:nvPr/>
        </p:nvSpPr>
        <p:spPr>
          <a:xfrm>
            <a:off x="381908" y="4103531"/>
            <a:ext cx="8154099" cy="738664"/>
          </a:xfrm>
          <a:prstGeom prst="rect">
            <a:avLst/>
          </a:prstGeom>
          <a:noFill/>
        </p:spPr>
        <p:txBody>
          <a:bodyPr wrap="square" rtlCol="0">
            <a:spAutoFit/>
          </a:bodyPr>
          <a:lstStyle/>
          <a:p>
            <a:r>
              <a:rPr lang="en-US" sz="1300" b="1" dirty="0"/>
              <a:t>Recommendation</a:t>
            </a:r>
            <a:r>
              <a:rPr lang="en-US" sz="1300" dirty="0"/>
              <a:t>: </a:t>
            </a:r>
            <a:r>
              <a:rPr lang="en-US" sz="1400" dirty="0"/>
              <a:t>More than half of at-risk students receive no intervention at all. Expanding coverage should be the top priority before optimizing what type of intervention is delivered. Even a single touchpoint meaningfully improves outcomes.</a:t>
            </a:r>
            <a:endParaRPr lang="en-US" sz="1300" dirty="0"/>
          </a:p>
        </p:txBody>
      </p:sp>
      <p:pic>
        <p:nvPicPr>
          <p:cNvPr id="7" name="Picture 6" descr="A graph of blue rectangular bars&#10;&#10;AI-generated content may be incorrect.">
            <a:extLst>
              <a:ext uri="{FF2B5EF4-FFF2-40B4-BE49-F238E27FC236}">
                <a16:creationId xmlns:a16="http://schemas.microsoft.com/office/drawing/2014/main" id="{17F0CB2E-0062-CD3A-2179-E86B8DB0D609}"/>
              </a:ext>
            </a:extLst>
          </p:cNvPr>
          <p:cNvPicPr>
            <a:picLocks noChangeAspect="1"/>
          </p:cNvPicPr>
          <p:nvPr/>
        </p:nvPicPr>
        <p:blipFill>
          <a:blip r:embed="rId4"/>
          <a:stretch>
            <a:fillRect/>
          </a:stretch>
        </p:blipFill>
        <p:spPr>
          <a:xfrm>
            <a:off x="696694" y="1065346"/>
            <a:ext cx="2709236" cy="1863134"/>
          </a:xfrm>
          <a:prstGeom prst="rect">
            <a:avLst/>
          </a:prstGeom>
        </p:spPr>
      </p:pic>
      <p:pic>
        <p:nvPicPr>
          <p:cNvPr id="10" name="Picture 9" descr="A blue square with white text&#10;&#10;AI-generated content may be incorrect.">
            <a:extLst>
              <a:ext uri="{FF2B5EF4-FFF2-40B4-BE49-F238E27FC236}">
                <a16:creationId xmlns:a16="http://schemas.microsoft.com/office/drawing/2014/main" id="{91AE9D11-1F12-F169-D944-2F640C704FEE}"/>
              </a:ext>
            </a:extLst>
          </p:cNvPr>
          <p:cNvPicPr>
            <a:picLocks noChangeAspect="1"/>
          </p:cNvPicPr>
          <p:nvPr/>
        </p:nvPicPr>
        <p:blipFill>
          <a:blip r:embed="rId5"/>
          <a:stretch>
            <a:fillRect/>
          </a:stretch>
        </p:blipFill>
        <p:spPr>
          <a:xfrm>
            <a:off x="4605527" y="1406134"/>
            <a:ext cx="1442965" cy="1355271"/>
          </a:xfrm>
          <a:prstGeom prst="rect">
            <a:avLst/>
          </a:prstGeom>
        </p:spPr>
      </p:pic>
    </p:spTree>
    <p:extLst>
      <p:ext uri="{BB962C8B-B14F-4D97-AF65-F5344CB8AC3E}">
        <p14:creationId xmlns:p14="http://schemas.microsoft.com/office/powerpoint/2010/main" val="2834145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C05E5F61-28A9-95AC-FD92-3ACE78E824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D652A79-6C9B-494B-CA5E-36CCA6290971}"/>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CFF90BF4-2672-AE32-A654-F926527641E2}"/>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09045D7D-F5E0-32A2-F139-A9125AF55925}"/>
              </a:ext>
            </a:extLst>
          </p:cNvPr>
          <p:cNvSpPr/>
          <p:nvPr/>
        </p:nvSpPr>
        <p:spPr>
          <a:xfrm>
            <a:off x="411480" y="347472"/>
            <a:ext cx="8321040" cy="457200"/>
          </a:xfrm>
          <a:prstGeom prst="rect">
            <a:avLst/>
          </a:prstGeom>
          <a:noFill/>
          <a:ln/>
        </p:spPr>
        <p:txBody>
          <a:bodyPr wrap="square" lIns="0" tIns="0" rIns="0" bIns="0" rtlCol="0" anchor="ctr"/>
          <a:lstStyle/>
          <a:p>
            <a:r>
              <a:rPr lang="en-US" sz="2400" b="1" dirty="0"/>
              <a:t>Are certain groups being left behind?</a:t>
            </a:r>
            <a:endParaRPr lang="en-US" sz="2200" dirty="0"/>
          </a:p>
        </p:txBody>
      </p:sp>
      <p:sp>
        <p:nvSpPr>
          <p:cNvPr id="6" name="Shape 4">
            <a:extLst>
              <a:ext uri="{FF2B5EF4-FFF2-40B4-BE49-F238E27FC236}">
                <a16:creationId xmlns:a16="http://schemas.microsoft.com/office/drawing/2014/main" id="{444FBB99-370E-1A47-E2AE-C10C09964BA4}"/>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150DE2AE-BFB0-D605-6E97-053C9861F1F0}"/>
              </a:ext>
            </a:extLst>
          </p:cNvPr>
          <p:cNvPicPr>
            <a:picLocks noChangeAspect="1"/>
          </p:cNvPicPr>
          <p:nvPr/>
        </p:nvPicPr>
        <p:blipFill>
          <a:blip r:embed="rId3"/>
          <a:stretch>
            <a:fillRect/>
          </a:stretch>
        </p:blipFill>
        <p:spPr>
          <a:xfrm>
            <a:off x="7990672" y="32004"/>
            <a:ext cx="1407117" cy="843396"/>
          </a:xfrm>
          <a:prstGeom prst="rect">
            <a:avLst/>
          </a:prstGeom>
        </p:spPr>
      </p:pic>
      <p:sp>
        <p:nvSpPr>
          <p:cNvPr id="46" name="TextBox 45">
            <a:extLst>
              <a:ext uri="{FF2B5EF4-FFF2-40B4-BE49-F238E27FC236}">
                <a16:creationId xmlns:a16="http://schemas.microsoft.com/office/drawing/2014/main" id="{80241519-8728-F707-03AA-CBE04EEFBD75}"/>
              </a:ext>
            </a:extLst>
          </p:cNvPr>
          <p:cNvSpPr txBox="1"/>
          <p:nvPr/>
        </p:nvSpPr>
        <p:spPr>
          <a:xfrm>
            <a:off x="411480" y="3078927"/>
            <a:ext cx="8124527" cy="738664"/>
          </a:xfrm>
          <a:prstGeom prst="rect">
            <a:avLst/>
          </a:prstGeom>
          <a:noFill/>
        </p:spPr>
        <p:txBody>
          <a:bodyPr wrap="square" rtlCol="0">
            <a:spAutoFit/>
          </a:bodyPr>
          <a:lstStyle/>
          <a:p>
            <a:r>
              <a:rPr lang="en-US" sz="1400" dirty="0"/>
              <a:t>Low-income students complete at 50% vs 59% for high income students, a 9 point gap. First-generation students complete at 51% vs 57% for continuing-generation, a 6 point gap. Both gaps compound over time into long-term economic disadvantage.</a:t>
            </a:r>
            <a:endParaRPr lang="en-US" sz="1300" dirty="0"/>
          </a:p>
        </p:txBody>
      </p:sp>
      <p:sp>
        <p:nvSpPr>
          <p:cNvPr id="47" name="TextBox 46">
            <a:extLst>
              <a:ext uri="{FF2B5EF4-FFF2-40B4-BE49-F238E27FC236}">
                <a16:creationId xmlns:a16="http://schemas.microsoft.com/office/drawing/2014/main" id="{4DC83483-5F63-771E-7F38-E0256CE53494}"/>
              </a:ext>
            </a:extLst>
          </p:cNvPr>
          <p:cNvSpPr txBox="1"/>
          <p:nvPr/>
        </p:nvSpPr>
        <p:spPr>
          <a:xfrm>
            <a:off x="381908" y="4103531"/>
            <a:ext cx="8154099" cy="738664"/>
          </a:xfrm>
          <a:prstGeom prst="rect">
            <a:avLst/>
          </a:prstGeom>
          <a:noFill/>
        </p:spPr>
        <p:txBody>
          <a:bodyPr wrap="square" rtlCol="0">
            <a:spAutoFit/>
          </a:bodyPr>
          <a:lstStyle/>
          <a:p>
            <a:r>
              <a:rPr lang="en-US" sz="1300" b="1" dirty="0"/>
              <a:t>Recommendation</a:t>
            </a:r>
            <a:r>
              <a:rPr lang="en-US" sz="1300" dirty="0"/>
              <a:t>: </a:t>
            </a:r>
            <a:r>
              <a:rPr lang="en-US" sz="1400" dirty="0"/>
              <a:t>Introduce proactive financial aid counseling and early advising for low-income and first-gen students in their very first semester, before any risk signals appear. Waiting for warning signs is too late for these groups.</a:t>
            </a:r>
            <a:endParaRPr lang="en-US" sz="1300" dirty="0"/>
          </a:p>
        </p:txBody>
      </p:sp>
      <p:pic>
        <p:nvPicPr>
          <p:cNvPr id="8" name="Picture 7" descr="A blue bars with white text&#10;&#10;AI-generated content may be incorrect.">
            <a:extLst>
              <a:ext uri="{FF2B5EF4-FFF2-40B4-BE49-F238E27FC236}">
                <a16:creationId xmlns:a16="http://schemas.microsoft.com/office/drawing/2014/main" id="{686731C1-D7C8-4DA4-9EFE-5356F7F20023}"/>
              </a:ext>
            </a:extLst>
          </p:cNvPr>
          <p:cNvPicPr>
            <a:picLocks noChangeAspect="1"/>
          </p:cNvPicPr>
          <p:nvPr/>
        </p:nvPicPr>
        <p:blipFill>
          <a:blip r:embed="rId4"/>
          <a:stretch>
            <a:fillRect/>
          </a:stretch>
        </p:blipFill>
        <p:spPr>
          <a:xfrm>
            <a:off x="411480" y="1033542"/>
            <a:ext cx="3748532" cy="1625768"/>
          </a:xfrm>
          <a:prstGeom prst="rect">
            <a:avLst/>
          </a:prstGeom>
        </p:spPr>
      </p:pic>
      <p:pic>
        <p:nvPicPr>
          <p:cNvPr id="11" name="Picture 10" descr="A graph with blue lines&#10;&#10;AI-generated content may be incorrect.">
            <a:extLst>
              <a:ext uri="{FF2B5EF4-FFF2-40B4-BE49-F238E27FC236}">
                <a16:creationId xmlns:a16="http://schemas.microsoft.com/office/drawing/2014/main" id="{6061B6F8-377F-463C-1ED4-19BFEFD4BBDB}"/>
              </a:ext>
            </a:extLst>
          </p:cNvPr>
          <p:cNvPicPr>
            <a:picLocks noChangeAspect="1"/>
          </p:cNvPicPr>
          <p:nvPr/>
        </p:nvPicPr>
        <p:blipFill>
          <a:blip r:embed="rId5"/>
          <a:stretch>
            <a:fillRect/>
          </a:stretch>
        </p:blipFill>
        <p:spPr>
          <a:xfrm>
            <a:off x="5136583" y="1033542"/>
            <a:ext cx="2784966" cy="1538208"/>
          </a:xfrm>
          <a:prstGeom prst="rect">
            <a:avLst/>
          </a:prstGeom>
        </p:spPr>
      </p:pic>
    </p:spTree>
    <p:extLst>
      <p:ext uri="{BB962C8B-B14F-4D97-AF65-F5344CB8AC3E}">
        <p14:creationId xmlns:p14="http://schemas.microsoft.com/office/powerpoint/2010/main" val="1044054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925A4414-8022-BF24-5286-B93F7594517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D2B6C6-7635-742F-33C7-77615F451C00}"/>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72C7C8D2-FDD0-A43C-1293-B69AA89E48AB}"/>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8FC63D67-7B19-4458-5568-56F94DF3D69C}"/>
              </a:ext>
            </a:extLst>
          </p:cNvPr>
          <p:cNvSpPr/>
          <p:nvPr/>
        </p:nvSpPr>
        <p:spPr>
          <a:xfrm>
            <a:off x="411480" y="347472"/>
            <a:ext cx="8321040" cy="457200"/>
          </a:xfrm>
          <a:prstGeom prst="rect">
            <a:avLst/>
          </a:prstGeom>
          <a:noFill/>
          <a:ln/>
        </p:spPr>
        <p:txBody>
          <a:bodyPr wrap="square" lIns="0" tIns="0" rIns="0" bIns="0" rtlCol="0" anchor="ctr"/>
          <a:lstStyle/>
          <a:p>
            <a:r>
              <a:rPr lang="en-US" sz="2400" b="1" dirty="0"/>
              <a:t>Race &amp; Ethnicity alongside Income brackets</a:t>
            </a:r>
            <a:endParaRPr lang="en-US" sz="2200" b="1" dirty="0"/>
          </a:p>
        </p:txBody>
      </p:sp>
      <p:sp>
        <p:nvSpPr>
          <p:cNvPr id="6" name="Shape 4">
            <a:extLst>
              <a:ext uri="{FF2B5EF4-FFF2-40B4-BE49-F238E27FC236}">
                <a16:creationId xmlns:a16="http://schemas.microsoft.com/office/drawing/2014/main" id="{9866BDE7-2C17-F1B8-760E-981B847D5744}"/>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685473A3-1BC3-DF69-D26C-320D3B5F0CE0}"/>
              </a:ext>
            </a:extLst>
          </p:cNvPr>
          <p:cNvPicPr>
            <a:picLocks noChangeAspect="1"/>
          </p:cNvPicPr>
          <p:nvPr/>
        </p:nvPicPr>
        <p:blipFill>
          <a:blip r:embed="rId3"/>
          <a:stretch>
            <a:fillRect/>
          </a:stretch>
        </p:blipFill>
        <p:spPr>
          <a:xfrm>
            <a:off x="7990672" y="32004"/>
            <a:ext cx="1407117" cy="843396"/>
          </a:xfrm>
          <a:prstGeom prst="rect">
            <a:avLst/>
          </a:prstGeom>
        </p:spPr>
      </p:pic>
      <p:sp>
        <p:nvSpPr>
          <p:cNvPr id="46" name="TextBox 45">
            <a:extLst>
              <a:ext uri="{FF2B5EF4-FFF2-40B4-BE49-F238E27FC236}">
                <a16:creationId xmlns:a16="http://schemas.microsoft.com/office/drawing/2014/main" id="{B6B1C9E7-1570-AB38-C51E-6C9DAAF089E4}"/>
              </a:ext>
            </a:extLst>
          </p:cNvPr>
          <p:cNvSpPr txBox="1"/>
          <p:nvPr/>
        </p:nvSpPr>
        <p:spPr>
          <a:xfrm>
            <a:off x="411480" y="3078927"/>
            <a:ext cx="8124527" cy="738664"/>
          </a:xfrm>
          <a:prstGeom prst="rect">
            <a:avLst/>
          </a:prstGeom>
          <a:noFill/>
        </p:spPr>
        <p:txBody>
          <a:bodyPr wrap="square" rtlCol="0">
            <a:spAutoFit/>
          </a:bodyPr>
          <a:lstStyle/>
          <a:p>
            <a:r>
              <a:rPr lang="en-US" sz="1400" dirty="0"/>
              <a:t>Race alone shows almost no completion gap. Asian and Hispanic students perform slightly below average but the gaps are less than 1 percentage point. When you compare this to the 9-point income gap, it becomes clear that income and first-gen status are the true underlying drivers of inequity, not race independently.</a:t>
            </a:r>
            <a:endParaRPr lang="en-US" sz="1300" dirty="0"/>
          </a:p>
        </p:txBody>
      </p:sp>
      <p:sp>
        <p:nvSpPr>
          <p:cNvPr id="47" name="TextBox 46">
            <a:extLst>
              <a:ext uri="{FF2B5EF4-FFF2-40B4-BE49-F238E27FC236}">
                <a16:creationId xmlns:a16="http://schemas.microsoft.com/office/drawing/2014/main" id="{58710082-0DCF-6EEF-9EE5-FEC5D9E8E947}"/>
              </a:ext>
            </a:extLst>
          </p:cNvPr>
          <p:cNvSpPr txBox="1"/>
          <p:nvPr/>
        </p:nvSpPr>
        <p:spPr>
          <a:xfrm>
            <a:off x="381908" y="4103531"/>
            <a:ext cx="8154099" cy="523220"/>
          </a:xfrm>
          <a:prstGeom prst="rect">
            <a:avLst/>
          </a:prstGeom>
          <a:noFill/>
        </p:spPr>
        <p:txBody>
          <a:bodyPr wrap="square" rtlCol="0">
            <a:spAutoFit/>
          </a:bodyPr>
          <a:lstStyle/>
          <a:p>
            <a:r>
              <a:rPr lang="en-US" sz="1300" b="1" dirty="0"/>
              <a:t>Recommendation</a:t>
            </a:r>
            <a:r>
              <a:rPr lang="en-US" sz="1300" dirty="0"/>
              <a:t>: </a:t>
            </a:r>
            <a:r>
              <a:rPr lang="en-US" sz="1400" dirty="0"/>
              <a:t>Equity interventions should be targeted by income and first-gen status rather than race. This approach will be more effective and more defensible to partner institutions and funders.</a:t>
            </a:r>
            <a:endParaRPr lang="en-US" sz="1300" dirty="0"/>
          </a:p>
        </p:txBody>
      </p:sp>
      <p:pic>
        <p:nvPicPr>
          <p:cNvPr id="7" name="Picture 6" descr="A graph with blue rectangles&#10;&#10;AI-generated content may be incorrect.">
            <a:extLst>
              <a:ext uri="{FF2B5EF4-FFF2-40B4-BE49-F238E27FC236}">
                <a16:creationId xmlns:a16="http://schemas.microsoft.com/office/drawing/2014/main" id="{D4494F93-F5F3-435D-F4D2-9CBF4CC38C52}"/>
              </a:ext>
            </a:extLst>
          </p:cNvPr>
          <p:cNvPicPr>
            <a:picLocks noChangeAspect="1"/>
          </p:cNvPicPr>
          <p:nvPr/>
        </p:nvPicPr>
        <p:blipFill>
          <a:blip r:embed="rId4"/>
          <a:stretch>
            <a:fillRect/>
          </a:stretch>
        </p:blipFill>
        <p:spPr>
          <a:xfrm>
            <a:off x="411480" y="1124265"/>
            <a:ext cx="3214206" cy="1536890"/>
          </a:xfrm>
          <a:prstGeom prst="rect">
            <a:avLst/>
          </a:prstGeom>
        </p:spPr>
      </p:pic>
      <p:pic>
        <p:nvPicPr>
          <p:cNvPr id="10" name="Picture 9" descr="A graph with blue squares&#10;&#10;AI-generated content may be incorrect.">
            <a:extLst>
              <a:ext uri="{FF2B5EF4-FFF2-40B4-BE49-F238E27FC236}">
                <a16:creationId xmlns:a16="http://schemas.microsoft.com/office/drawing/2014/main" id="{DD950A13-D3EC-941F-C103-2E0FA0D5CD4A}"/>
              </a:ext>
            </a:extLst>
          </p:cNvPr>
          <p:cNvPicPr>
            <a:picLocks noChangeAspect="1"/>
          </p:cNvPicPr>
          <p:nvPr/>
        </p:nvPicPr>
        <p:blipFill>
          <a:blip r:embed="rId5"/>
          <a:stretch>
            <a:fillRect/>
          </a:stretch>
        </p:blipFill>
        <p:spPr>
          <a:xfrm>
            <a:off x="4691085" y="1123355"/>
            <a:ext cx="2982078" cy="1669632"/>
          </a:xfrm>
          <a:prstGeom prst="rect">
            <a:avLst/>
          </a:prstGeom>
        </p:spPr>
      </p:pic>
    </p:spTree>
    <p:extLst>
      <p:ext uri="{BB962C8B-B14F-4D97-AF65-F5344CB8AC3E}">
        <p14:creationId xmlns:p14="http://schemas.microsoft.com/office/powerpoint/2010/main" val="999470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B22996D9-390D-2619-8895-916F8B9FCCD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1022BB-4C12-4930-F484-23D1531DA038}"/>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AA51E513-CD38-C8C1-8B3C-D8192E7DA7F3}"/>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8EE52731-CE92-D58E-D273-8296A08CB189}"/>
              </a:ext>
            </a:extLst>
          </p:cNvPr>
          <p:cNvSpPr/>
          <p:nvPr/>
        </p:nvSpPr>
        <p:spPr>
          <a:xfrm>
            <a:off x="411480" y="347472"/>
            <a:ext cx="8321040" cy="457200"/>
          </a:xfrm>
          <a:prstGeom prst="rect">
            <a:avLst/>
          </a:prstGeom>
          <a:noFill/>
          <a:ln/>
        </p:spPr>
        <p:txBody>
          <a:bodyPr wrap="square" lIns="0" tIns="0" rIns="0" bIns="0" rtlCol="0" anchor="ctr"/>
          <a:lstStyle/>
          <a:p>
            <a:r>
              <a:rPr lang="en-US" sz="2400" b="1" dirty="0"/>
              <a:t>Predicting Dropout Risk with Machine Learning</a:t>
            </a:r>
          </a:p>
        </p:txBody>
      </p:sp>
      <p:sp>
        <p:nvSpPr>
          <p:cNvPr id="6" name="Shape 4">
            <a:extLst>
              <a:ext uri="{FF2B5EF4-FFF2-40B4-BE49-F238E27FC236}">
                <a16:creationId xmlns:a16="http://schemas.microsoft.com/office/drawing/2014/main" id="{17A87E81-3654-A69E-1292-60F689AC2FA3}"/>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43" name="Picture 42" descr="A blue butterfly on a black background&#10;&#10;AI-generated content may be incorrect.">
            <a:extLst>
              <a:ext uri="{FF2B5EF4-FFF2-40B4-BE49-F238E27FC236}">
                <a16:creationId xmlns:a16="http://schemas.microsoft.com/office/drawing/2014/main" id="{55C88CFE-B8D9-9D67-EF10-62CDBB44D96F}"/>
              </a:ext>
            </a:extLst>
          </p:cNvPr>
          <p:cNvPicPr>
            <a:picLocks noChangeAspect="1"/>
          </p:cNvPicPr>
          <p:nvPr/>
        </p:nvPicPr>
        <p:blipFill>
          <a:blip r:embed="rId3"/>
          <a:stretch>
            <a:fillRect/>
          </a:stretch>
        </p:blipFill>
        <p:spPr>
          <a:xfrm>
            <a:off x="7990672" y="32004"/>
            <a:ext cx="1407117" cy="843396"/>
          </a:xfrm>
          <a:prstGeom prst="rect">
            <a:avLst/>
          </a:prstGeom>
        </p:spPr>
      </p:pic>
      <p:sp>
        <p:nvSpPr>
          <p:cNvPr id="4" name="Rounded Rectangle 3">
            <a:extLst>
              <a:ext uri="{FF2B5EF4-FFF2-40B4-BE49-F238E27FC236}">
                <a16:creationId xmlns:a16="http://schemas.microsoft.com/office/drawing/2014/main" id="{A97EC765-ED31-53DE-0D07-62B95F2DE1F8}"/>
              </a:ext>
            </a:extLst>
          </p:cNvPr>
          <p:cNvSpPr/>
          <p:nvPr/>
        </p:nvSpPr>
        <p:spPr>
          <a:xfrm>
            <a:off x="411480" y="1124712"/>
            <a:ext cx="3772278" cy="363474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7F21E8FD-49A6-39CF-C1E6-9E09D10102B6}"/>
              </a:ext>
            </a:extLst>
          </p:cNvPr>
          <p:cNvSpPr txBox="1"/>
          <p:nvPr/>
        </p:nvSpPr>
        <p:spPr>
          <a:xfrm>
            <a:off x="1596770" y="1269277"/>
            <a:ext cx="1440810" cy="369332"/>
          </a:xfrm>
          <a:prstGeom prst="rect">
            <a:avLst/>
          </a:prstGeom>
          <a:noFill/>
        </p:spPr>
        <p:txBody>
          <a:bodyPr wrap="square" rtlCol="0">
            <a:spAutoFit/>
          </a:bodyPr>
          <a:lstStyle/>
          <a:p>
            <a:r>
              <a:rPr lang="en-US" dirty="0">
                <a:solidFill>
                  <a:schemeClr val="bg1">
                    <a:lumMod val="95000"/>
                  </a:schemeClr>
                </a:solidFill>
              </a:rPr>
              <a:t>Model Inputs</a:t>
            </a:r>
          </a:p>
        </p:txBody>
      </p:sp>
      <p:sp>
        <p:nvSpPr>
          <p:cNvPr id="11" name="Rectangle 1">
            <a:extLst>
              <a:ext uri="{FF2B5EF4-FFF2-40B4-BE49-F238E27FC236}">
                <a16:creationId xmlns:a16="http://schemas.microsoft.com/office/drawing/2014/main" id="{0D9995CE-C91A-C52C-CA1F-C1C2FAA0013C}"/>
              </a:ext>
            </a:extLst>
          </p:cNvPr>
          <p:cNvSpPr>
            <a:spLocks noChangeArrowheads="1"/>
          </p:cNvSpPr>
          <p:nvPr/>
        </p:nvSpPr>
        <p:spPr bwMode="auto">
          <a:xfrm>
            <a:off x="755009" y="1885497"/>
            <a:ext cx="2824812"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dirty="0">
              <a:ln>
                <a:noFill/>
              </a:ln>
              <a:solidFill>
                <a:schemeClr val="bg1">
                  <a:lumMod val="95000"/>
                </a:schemeClr>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Cumulative GPA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Total withdrawals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Credits attempted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Financial aid gap flag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Gateway course failure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Intervention engagement score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Income bracket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Program type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300" b="0" i="0" u="none" strike="noStrike" cap="none" normalizeH="0" baseline="0" dirty="0">
                <a:ln>
                  <a:noFill/>
                </a:ln>
                <a:solidFill>
                  <a:schemeClr val="bg1">
                    <a:lumMod val="95000"/>
                  </a:schemeClr>
                </a:solidFill>
                <a:effectLst/>
                <a:latin typeface="Arial" panose="020B0604020202020204" pitchFamily="34" charset="0"/>
              </a:rPr>
              <a:t>First-generation status</a:t>
            </a:r>
          </a:p>
        </p:txBody>
      </p:sp>
      <p:sp>
        <p:nvSpPr>
          <p:cNvPr id="12" name="Rounded Rectangle 11">
            <a:extLst>
              <a:ext uri="{FF2B5EF4-FFF2-40B4-BE49-F238E27FC236}">
                <a16:creationId xmlns:a16="http://schemas.microsoft.com/office/drawing/2014/main" id="{141CB98E-CC89-75D5-4490-67E8E06C65AD}"/>
              </a:ext>
            </a:extLst>
          </p:cNvPr>
          <p:cNvSpPr/>
          <p:nvPr/>
        </p:nvSpPr>
        <p:spPr>
          <a:xfrm>
            <a:off x="4572000" y="998915"/>
            <a:ext cx="3772278" cy="577905"/>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Logistic Regression</a:t>
            </a:r>
          </a:p>
          <a:p>
            <a:pPr algn="ctr"/>
            <a:r>
              <a:rPr lang="en-US" dirty="0"/>
              <a:t>AUC: 0.9337</a:t>
            </a:r>
          </a:p>
        </p:txBody>
      </p:sp>
      <p:sp>
        <p:nvSpPr>
          <p:cNvPr id="13" name="Rounded Rectangle 12">
            <a:extLst>
              <a:ext uri="{FF2B5EF4-FFF2-40B4-BE49-F238E27FC236}">
                <a16:creationId xmlns:a16="http://schemas.microsoft.com/office/drawing/2014/main" id="{E73AF1FF-8F70-2765-05A4-00EAEDB1C000}"/>
              </a:ext>
            </a:extLst>
          </p:cNvPr>
          <p:cNvSpPr/>
          <p:nvPr/>
        </p:nvSpPr>
        <p:spPr>
          <a:xfrm>
            <a:off x="4572000" y="1638609"/>
            <a:ext cx="3772278" cy="577905"/>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XGBoost</a:t>
            </a:r>
          </a:p>
          <a:p>
            <a:pPr algn="ctr"/>
            <a:r>
              <a:rPr lang="en-US" dirty="0"/>
              <a:t>AUC: 0.968</a:t>
            </a:r>
          </a:p>
        </p:txBody>
      </p:sp>
      <p:sp>
        <p:nvSpPr>
          <p:cNvPr id="14" name="Rounded Rectangle 13">
            <a:extLst>
              <a:ext uri="{FF2B5EF4-FFF2-40B4-BE49-F238E27FC236}">
                <a16:creationId xmlns:a16="http://schemas.microsoft.com/office/drawing/2014/main" id="{53C1D19A-BD37-2A36-CA19-C529F56FB792}"/>
              </a:ext>
            </a:extLst>
          </p:cNvPr>
          <p:cNvSpPr/>
          <p:nvPr/>
        </p:nvSpPr>
        <p:spPr>
          <a:xfrm>
            <a:off x="4572000" y="2297973"/>
            <a:ext cx="3816991" cy="1438106"/>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DAC20EF9-F74F-720E-5E83-A4BE0661E1B6}"/>
              </a:ext>
            </a:extLst>
          </p:cNvPr>
          <p:cNvSpPr txBox="1"/>
          <p:nvPr/>
        </p:nvSpPr>
        <p:spPr>
          <a:xfrm>
            <a:off x="5117242" y="2278303"/>
            <a:ext cx="2771220" cy="369332"/>
          </a:xfrm>
          <a:prstGeom prst="rect">
            <a:avLst/>
          </a:prstGeom>
          <a:noFill/>
        </p:spPr>
        <p:txBody>
          <a:bodyPr wrap="square" rtlCol="0">
            <a:spAutoFit/>
          </a:bodyPr>
          <a:lstStyle/>
          <a:p>
            <a:r>
              <a:rPr lang="en-US" dirty="0">
                <a:solidFill>
                  <a:schemeClr val="bg1">
                    <a:lumMod val="95000"/>
                  </a:schemeClr>
                </a:solidFill>
              </a:rPr>
              <a:t>Top 3 Dropout Risk Drivers</a:t>
            </a:r>
          </a:p>
        </p:txBody>
      </p:sp>
      <p:sp>
        <p:nvSpPr>
          <p:cNvPr id="22" name="TextBox 21">
            <a:extLst>
              <a:ext uri="{FF2B5EF4-FFF2-40B4-BE49-F238E27FC236}">
                <a16:creationId xmlns:a16="http://schemas.microsoft.com/office/drawing/2014/main" id="{023852C4-552D-300F-0E10-155952D79D20}"/>
              </a:ext>
            </a:extLst>
          </p:cNvPr>
          <p:cNvSpPr txBox="1"/>
          <p:nvPr/>
        </p:nvSpPr>
        <p:spPr>
          <a:xfrm>
            <a:off x="5117242" y="2667305"/>
            <a:ext cx="3057945" cy="923330"/>
          </a:xfrm>
          <a:prstGeom prst="rect">
            <a:avLst/>
          </a:prstGeom>
          <a:noFill/>
        </p:spPr>
        <p:txBody>
          <a:bodyPr wrap="square" rtlCol="0">
            <a:spAutoFit/>
          </a:bodyPr>
          <a:lstStyle/>
          <a:p>
            <a:pPr marL="342900" indent="-342900">
              <a:buAutoNum type="arabicPeriod"/>
            </a:pPr>
            <a:r>
              <a:rPr lang="en-US" dirty="0">
                <a:solidFill>
                  <a:schemeClr val="bg1">
                    <a:lumMod val="95000"/>
                  </a:schemeClr>
                </a:solidFill>
              </a:rPr>
              <a:t>Total Withdrawals</a:t>
            </a:r>
          </a:p>
          <a:p>
            <a:pPr marL="342900" indent="-342900">
              <a:buAutoNum type="arabicPeriod"/>
            </a:pPr>
            <a:r>
              <a:rPr lang="en-US" dirty="0">
                <a:solidFill>
                  <a:schemeClr val="bg1">
                    <a:lumMod val="95000"/>
                  </a:schemeClr>
                </a:solidFill>
              </a:rPr>
              <a:t>Credits attempted</a:t>
            </a:r>
          </a:p>
          <a:p>
            <a:pPr marL="342900" indent="-342900">
              <a:buAutoNum type="arabicPeriod"/>
            </a:pPr>
            <a:r>
              <a:rPr lang="en-US" dirty="0">
                <a:solidFill>
                  <a:schemeClr val="bg1">
                    <a:lumMod val="95000"/>
                  </a:schemeClr>
                </a:solidFill>
              </a:rPr>
              <a:t>Program type: Bachelors</a:t>
            </a:r>
          </a:p>
        </p:txBody>
      </p:sp>
      <p:sp>
        <p:nvSpPr>
          <p:cNvPr id="23" name="TextBox 22">
            <a:extLst>
              <a:ext uri="{FF2B5EF4-FFF2-40B4-BE49-F238E27FC236}">
                <a16:creationId xmlns:a16="http://schemas.microsoft.com/office/drawing/2014/main" id="{EA5650D9-73C4-3C66-38C7-AA9304C911A9}"/>
              </a:ext>
            </a:extLst>
          </p:cNvPr>
          <p:cNvSpPr txBox="1"/>
          <p:nvPr/>
        </p:nvSpPr>
        <p:spPr>
          <a:xfrm>
            <a:off x="4292816" y="3924683"/>
            <a:ext cx="4851184" cy="892552"/>
          </a:xfrm>
          <a:prstGeom prst="rect">
            <a:avLst/>
          </a:prstGeom>
          <a:noFill/>
        </p:spPr>
        <p:txBody>
          <a:bodyPr wrap="square" rtlCol="0">
            <a:spAutoFit/>
          </a:bodyPr>
          <a:lstStyle/>
          <a:p>
            <a:r>
              <a:rPr lang="en-US" sz="1300" dirty="0"/>
              <a:t>Recommendation: A student who withdraws from even one course, attempts fewer credits, and is enrolled in a Bachelor program is significantly more likely to drop out. This model can score every student in real time and flag them before it's too late.</a:t>
            </a:r>
          </a:p>
        </p:txBody>
      </p:sp>
    </p:spTree>
    <p:extLst>
      <p:ext uri="{BB962C8B-B14F-4D97-AF65-F5344CB8AC3E}">
        <p14:creationId xmlns:p14="http://schemas.microsoft.com/office/powerpoint/2010/main" val="238866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a:extLst>
            <a:ext uri="{FF2B5EF4-FFF2-40B4-BE49-F238E27FC236}">
              <a16:creationId xmlns:a16="http://schemas.microsoft.com/office/drawing/2014/main" id="{F9572F92-08D8-DC1B-67E7-D961C277BF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0F54F03-4B36-5C09-1E1A-C52D95AD5CFD}"/>
              </a:ext>
            </a:extLst>
          </p:cNvPr>
          <p:cNvSpPr/>
          <p:nvPr/>
        </p:nvSpPr>
        <p:spPr>
          <a:xfrm>
            <a:off x="0" y="0"/>
            <a:ext cx="9144000" cy="64008"/>
          </a:xfrm>
          <a:prstGeom prst="rect">
            <a:avLst/>
          </a:prstGeom>
          <a:solidFill>
            <a:srgbClr val="0293B2"/>
          </a:solidFill>
          <a:ln w="12700">
            <a:solidFill>
              <a:srgbClr val="0293B2"/>
            </a:solidFill>
            <a:prstDash val="solid"/>
          </a:ln>
        </p:spPr>
        <p:txBody>
          <a:bodyPr/>
          <a:lstStyle/>
          <a:p>
            <a:endParaRPr lang="en-US"/>
          </a:p>
        </p:txBody>
      </p:sp>
      <p:sp>
        <p:nvSpPr>
          <p:cNvPr id="3" name="Shape 1">
            <a:extLst>
              <a:ext uri="{FF2B5EF4-FFF2-40B4-BE49-F238E27FC236}">
                <a16:creationId xmlns:a16="http://schemas.microsoft.com/office/drawing/2014/main" id="{1706924F-21EB-D679-3F11-5CA2981C5ACD}"/>
              </a:ext>
            </a:extLst>
          </p:cNvPr>
          <p:cNvSpPr/>
          <p:nvPr/>
        </p:nvSpPr>
        <p:spPr>
          <a:xfrm>
            <a:off x="0" y="5088636"/>
            <a:ext cx="9144000" cy="54864"/>
          </a:xfrm>
          <a:prstGeom prst="rect">
            <a:avLst/>
          </a:prstGeom>
          <a:solidFill>
            <a:srgbClr val="C8E8F2"/>
          </a:solidFill>
          <a:ln w="12700">
            <a:solidFill>
              <a:srgbClr val="C8E8F2"/>
            </a:solidFill>
            <a:prstDash val="solid"/>
          </a:ln>
        </p:spPr>
        <p:txBody>
          <a:bodyPr/>
          <a:lstStyle/>
          <a:p>
            <a:endParaRPr lang="en-US"/>
          </a:p>
        </p:txBody>
      </p:sp>
      <p:sp>
        <p:nvSpPr>
          <p:cNvPr id="5" name="Text 3">
            <a:extLst>
              <a:ext uri="{FF2B5EF4-FFF2-40B4-BE49-F238E27FC236}">
                <a16:creationId xmlns:a16="http://schemas.microsoft.com/office/drawing/2014/main" id="{C6BB2F06-F9B9-A95E-3DE9-177F520AE83B}"/>
              </a:ext>
            </a:extLst>
          </p:cNvPr>
          <p:cNvSpPr/>
          <p:nvPr/>
        </p:nvSpPr>
        <p:spPr>
          <a:xfrm>
            <a:off x="411480" y="347472"/>
            <a:ext cx="8321040" cy="457200"/>
          </a:xfrm>
          <a:prstGeom prst="rect">
            <a:avLst/>
          </a:prstGeom>
          <a:noFill/>
          <a:ln/>
        </p:spPr>
        <p:txBody>
          <a:bodyPr wrap="square" lIns="0" tIns="0" rIns="0" bIns="0" rtlCol="0" anchor="ctr"/>
          <a:lstStyle/>
          <a:p>
            <a:r>
              <a:rPr lang="en-US" sz="2400" b="1" dirty="0"/>
              <a:t>Next Steps</a:t>
            </a:r>
          </a:p>
        </p:txBody>
      </p:sp>
      <p:sp>
        <p:nvSpPr>
          <p:cNvPr id="6" name="Shape 4">
            <a:extLst>
              <a:ext uri="{FF2B5EF4-FFF2-40B4-BE49-F238E27FC236}">
                <a16:creationId xmlns:a16="http://schemas.microsoft.com/office/drawing/2014/main" id="{B0F90732-8264-5C9D-EDAC-F2A1C00FC6F5}"/>
              </a:ext>
            </a:extLst>
          </p:cNvPr>
          <p:cNvSpPr/>
          <p:nvPr/>
        </p:nvSpPr>
        <p:spPr>
          <a:xfrm>
            <a:off x="411480" y="841248"/>
            <a:ext cx="1463040" cy="36576"/>
          </a:xfrm>
          <a:prstGeom prst="rect">
            <a:avLst/>
          </a:prstGeom>
          <a:solidFill>
            <a:srgbClr val="F5A623"/>
          </a:solidFill>
          <a:ln w="12700">
            <a:solidFill>
              <a:srgbClr val="F5A623"/>
            </a:solidFill>
            <a:prstDash val="solid"/>
          </a:ln>
        </p:spPr>
        <p:txBody>
          <a:bodyPr/>
          <a:lstStyle/>
          <a:p>
            <a:endParaRPr lang="en-US"/>
          </a:p>
        </p:txBody>
      </p:sp>
      <p:pic>
        <p:nvPicPr>
          <p:cNvPr id="18" name="Picture 17" descr="A blue butterfly on a black background&#10;&#10;AI-generated content may be incorrect.">
            <a:extLst>
              <a:ext uri="{FF2B5EF4-FFF2-40B4-BE49-F238E27FC236}">
                <a16:creationId xmlns:a16="http://schemas.microsoft.com/office/drawing/2014/main" id="{DC5459C4-18C4-89F5-F26F-2E81E69EAAF8}"/>
              </a:ext>
            </a:extLst>
          </p:cNvPr>
          <p:cNvPicPr>
            <a:picLocks noChangeAspect="1"/>
          </p:cNvPicPr>
          <p:nvPr/>
        </p:nvPicPr>
        <p:blipFill>
          <a:blip r:embed="rId3"/>
          <a:stretch>
            <a:fillRect/>
          </a:stretch>
        </p:blipFill>
        <p:spPr>
          <a:xfrm>
            <a:off x="7990672" y="32004"/>
            <a:ext cx="1407117" cy="843396"/>
          </a:xfrm>
          <a:prstGeom prst="rect">
            <a:avLst/>
          </a:prstGeom>
        </p:spPr>
      </p:pic>
      <p:sp>
        <p:nvSpPr>
          <p:cNvPr id="19" name="Rounded Rectangle 18">
            <a:extLst>
              <a:ext uri="{FF2B5EF4-FFF2-40B4-BE49-F238E27FC236}">
                <a16:creationId xmlns:a16="http://schemas.microsoft.com/office/drawing/2014/main" id="{3B7F8C34-322B-09FC-AA9F-B492C1507976}"/>
              </a:ext>
            </a:extLst>
          </p:cNvPr>
          <p:cNvSpPr/>
          <p:nvPr/>
        </p:nvSpPr>
        <p:spPr>
          <a:xfrm>
            <a:off x="411480" y="1247863"/>
            <a:ext cx="3537387" cy="12238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52961D55-5D44-BA28-2529-0E326B22A9F9}"/>
              </a:ext>
            </a:extLst>
          </p:cNvPr>
          <p:cNvSpPr txBox="1"/>
          <p:nvPr/>
        </p:nvSpPr>
        <p:spPr>
          <a:xfrm>
            <a:off x="1003134" y="1247863"/>
            <a:ext cx="2354077" cy="369332"/>
          </a:xfrm>
          <a:prstGeom prst="rect">
            <a:avLst/>
          </a:prstGeom>
          <a:noFill/>
        </p:spPr>
        <p:txBody>
          <a:bodyPr wrap="square" rtlCol="0">
            <a:spAutoFit/>
          </a:bodyPr>
          <a:lstStyle/>
          <a:p>
            <a:r>
              <a:rPr lang="en-US" u="sng" dirty="0">
                <a:solidFill>
                  <a:schemeClr val="bg1">
                    <a:lumMod val="95000"/>
                  </a:schemeClr>
                </a:solidFill>
              </a:rPr>
              <a:t>Immediate (0-30 days)</a:t>
            </a:r>
          </a:p>
        </p:txBody>
      </p:sp>
      <p:sp>
        <p:nvSpPr>
          <p:cNvPr id="24" name="TextBox 23">
            <a:extLst>
              <a:ext uri="{FF2B5EF4-FFF2-40B4-BE49-F238E27FC236}">
                <a16:creationId xmlns:a16="http://schemas.microsoft.com/office/drawing/2014/main" id="{FCAD4FC5-6EFD-C9E4-E497-68E3FA42D4EB}"/>
              </a:ext>
            </a:extLst>
          </p:cNvPr>
          <p:cNvSpPr txBox="1"/>
          <p:nvPr/>
        </p:nvSpPr>
        <p:spPr>
          <a:xfrm>
            <a:off x="624014" y="1674196"/>
            <a:ext cx="3112316" cy="600164"/>
          </a:xfrm>
          <a:prstGeom prst="rect">
            <a:avLst/>
          </a:prstGeom>
          <a:noFill/>
        </p:spPr>
        <p:txBody>
          <a:bodyPr wrap="square" rtlCol="0">
            <a:spAutoFit/>
          </a:bodyPr>
          <a:lstStyle/>
          <a:p>
            <a:r>
              <a:rPr lang="en-US" sz="1100" dirty="0">
                <a:solidFill>
                  <a:schemeClr val="bg1">
                    <a:lumMod val="95000"/>
                  </a:schemeClr>
                </a:solidFill>
              </a:rPr>
              <a:t>Identify the highest risk student segments across current partner institutions and map them against existing intervention coverage gaps.</a:t>
            </a:r>
          </a:p>
        </p:txBody>
      </p:sp>
      <p:sp>
        <p:nvSpPr>
          <p:cNvPr id="25" name="Rounded Rectangle 24">
            <a:extLst>
              <a:ext uri="{FF2B5EF4-FFF2-40B4-BE49-F238E27FC236}">
                <a16:creationId xmlns:a16="http://schemas.microsoft.com/office/drawing/2014/main" id="{8896561A-9839-332C-7963-1ADD2D9668B2}"/>
              </a:ext>
            </a:extLst>
          </p:cNvPr>
          <p:cNvSpPr/>
          <p:nvPr/>
        </p:nvSpPr>
        <p:spPr>
          <a:xfrm>
            <a:off x="4572000" y="1247863"/>
            <a:ext cx="3537387" cy="12238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6" name="Rounded Rectangle 25">
            <a:extLst>
              <a:ext uri="{FF2B5EF4-FFF2-40B4-BE49-F238E27FC236}">
                <a16:creationId xmlns:a16="http://schemas.microsoft.com/office/drawing/2014/main" id="{06B37C69-F029-61F5-6CC9-261EC18A40BC}"/>
              </a:ext>
            </a:extLst>
          </p:cNvPr>
          <p:cNvSpPr/>
          <p:nvPr/>
        </p:nvSpPr>
        <p:spPr>
          <a:xfrm>
            <a:off x="411480" y="3047691"/>
            <a:ext cx="3537387" cy="12238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59FB9A2C-6E3A-892A-AA7E-9BC31FD3793D}"/>
              </a:ext>
            </a:extLst>
          </p:cNvPr>
          <p:cNvSpPr/>
          <p:nvPr/>
        </p:nvSpPr>
        <p:spPr>
          <a:xfrm>
            <a:off x="4603479" y="3047691"/>
            <a:ext cx="3537387" cy="1223870"/>
          </a:xfrm>
          <a:prstGeom prst="roundRect">
            <a:avLst/>
          </a:prstGeom>
          <a:solidFill>
            <a:srgbClr val="00B6C8"/>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68C4C15B-53FF-13E0-310A-6B9BEC066F3F}"/>
              </a:ext>
            </a:extLst>
          </p:cNvPr>
          <p:cNvSpPr txBox="1"/>
          <p:nvPr/>
        </p:nvSpPr>
        <p:spPr>
          <a:xfrm>
            <a:off x="5195132" y="1304864"/>
            <a:ext cx="2413683" cy="369332"/>
          </a:xfrm>
          <a:prstGeom prst="rect">
            <a:avLst/>
          </a:prstGeom>
          <a:noFill/>
        </p:spPr>
        <p:txBody>
          <a:bodyPr wrap="square" rtlCol="0">
            <a:spAutoFit/>
          </a:bodyPr>
          <a:lstStyle/>
          <a:p>
            <a:r>
              <a:rPr lang="en-US" u="sng" dirty="0">
                <a:solidFill>
                  <a:schemeClr val="bg1">
                    <a:lumMod val="95000"/>
                  </a:schemeClr>
                </a:solidFill>
              </a:rPr>
              <a:t>Short Term (30-60 days)</a:t>
            </a:r>
          </a:p>
        </p:txBody>
      </p:sp>
      <p:sp>
        <p:nvSpPr>
          <p:cNvPr id="29" name="TextBox 28">
            <a:extLst>
              <a:ext uri="{FF2B5EF4-FFF2-40B4-BE49-F238E27FC236}">
                <a16:creationId xmlns:a16="http://schemas.microsoft.com/office/drawing/2014/main" id="{CB409548-277A-BC50-C4D1-7CDA5FEE0C8A}"/>
              </a:ext>
            </a:extLst>
          </p:cNvPr>
          <p:cNvSpPr txBox="1"/>
          <p:nvPr/>
        </p:nvSpPr>
        <p:spPr>
          <a:xfrm>
            <a:off x="834467" y="3052243"/>
            <a:ext cx="2691410" cy="369332"/>
          </a:xfrm>
          <a:prstGeom prst="rect">
            <a:avLst/>
          </a:prstGeom>
          <a:noFill/>
        </p:spPr>
        <p:txBody>
          <a:bodyPr wrap="square" rtlCol="0">
            <a:spAutoFit/>
          </a:bodyPr>
          <a:lstStyle/>
          <a:p>
            <a:r>
              <a:rPr lang="en-US" u="sng" dirty="0">
                <a:solidFill>
                  <a:schemeClr val="bg1">
                    <a:lumMod val="95000"/>
                  </a:schemeClr>
                </a:solidFill>
              </a:rPr>
              <a:t>Medium Term (60-90 days)</a:t>
            </a:r>
          </a:p>
        </p:txBody>
      </p:sp>
      <p:sp>
        <p:nvSpPr>
          <p:cNvPr id="30" name="TextBox 29">
            <a:extLst>
              <a:ext uri="{FF2B5EF4-FFF2-40B4-BE49-F238E27FC236}">
                <a16:creationId xmlns:a16="http://schemas.microsoft.com/office/drawing/2014/main" id="{5640891F-EBE5-E384-6B1F-10648894C236}"/>
              </a:ext>
            </a:extLst>
          </p:cNvPr>
          <p:cNvSpPr txBox="1"/>
          <p:nvPr/>
        </p:nvSpPr>
        <p:spPr>
          <a:xfrm>
            <a:off x="5195132" y="3052243"/>
            <a:ext cx="2354077" cy="369332"/>
          </a:xfrm>
          <a:prstGeom prst="rect">
            <a:avLst/>
          </a:prstGeom>
          <a:noFill/>
        </p:spPr>
        <p:txBody>
          <a:bodyPr wrap="square" rtlCol="0">
            <a:spAutoFit/>
          </a:bodyPr>
          <a:lstStyle/>
          <a:p>
            <a:r>
              <a:rPr lang="en-US" u="sng" dirty="0">
                <a:solidFill>
                  <a:schemeClr val="bg1">
                    <a:lumMod val="95000"/>
                  </a:schemeClr>
                </a:solidFill>
              </a:rPr>
              <a:t>Long Term (90+ days)</a:t>
            </a:r>
          </a:p>
        </p:txBody>
      </p:sp>
      <p:sp>
        <p:nvSpPr>
          <p:cNvPr id="31" name="TextBox 30">
            <a:extLst>
              <a:ext uri="{FF2B5EF4-FFF2-40B4-BE49-F238E27FC236}">
                <a16:creationId xmlns:a16="http://schemas.microsoft.com/office/drawing/2014/main" id="{E0629059-69AB-DAAC-5D09-A0BFB2A2335E}"/>
              </a:ext>
            </a:extLst>
          </p:cNvPr>
          <p:cNvSpPr txBox="1"/>
          <p:nvPr/>
        </p:nvSpPr>
        <p:spPr>
          <a:xfrm>
            <a:off x="4878356" y="1691917"/>
            <a:ext cx="3112316" cy="600164"/>
          </a:xfrm>
          <a:prstGeom prst="rect">
            <a:avLst/>
          </a:prstGeom>
          <a:noFill/>
        </p:spPr>
        <p:txBody>
          <a:bodyPr wrap="square" rtlCol="0">
            <a:spAutoFit/>
          </a:bodyPr>
          <a:lstStyle/>
          <a:p>
            <a:r>
              <a:rPr lang="en-US" sz="1100" dirty="0">
                <a:solidFill>
                  <a:schemeClr val="bg1">
                    <a:lumMod val="95000"/>
                  </a:schemeClr>
                </a:solidFill>
              </a:rPr>
              <a:t>Pilot the dropout risk model on one partner institution dataset. Validate model performance against real outcomes and calibrate risk thresholds.</a:t>
            </a:r>
          </a:p>
        </p:txBody>
      </p:sp>
      <p:sp>
        <p:nvSpPr>
          <p:cNvPr id="32" name="TextBox 31">
            <a:extLst>
              <a:ext uri="{FF2B5EF4-FFF2-40B4-BE49-F238E27FC236}">
                <a16:creationId xmlns:a16="http://schemas.microsoft.com/office/drawing/2014/main" id="{CE334ECE-8A57-1F2B-B642-AA7D845642DA}"/>
              </a:ext>
            </a:extLst>
          </p:cNvPr>
          <p:cNvSpPr txBox="1"/>
          <p:nvPr/>
        </p:nvSpPr>
        <p:spPr>
          <a:xfrm>
            <a:off x="571100" y="3480103"/>
            <a:ext cx="3218144" cy="600164"/>
          </a:xfrm>
          <a:prstGeom prst="rect">
            <a:avLst/>
          </a:prstGeom>
          <a:noFill/>
        </p:spPr>
        <p:txBody>
          <a:bodyPr wrap="square" rtlCol="0">
            <a:spAutoFit/>
          </a:bodyPr>
          <a:lstStyle/>
          <a:p>
            <a:r>
              <a:rPr lang="en-US" sz="1100" dirty="0">
                <a:solidFill>
                  <a:schemeClr val="bg1">
                    <a:lumMod val="95000"/>
                  </a:schemeClr>
                </a:solidFill>
              </a:rPr>
              <a:t>Build equity monitoring into the core analytics infrastructure. Track completion and employment gaps by income and first-gen status on a rolling basis.</a:t>
            </a:r>
          </a:p>
        </p:txBody>
      </p:sp>
      <p:sp>
        <p:nvSpPr>
          <p:cNvPr id="33" name="TextBox 32">
            <a:extLst>
              <a:ext uri="{FF2B5EF4-FFF2-40B4-BE49-F238E27FC236}">
                <a16:creationId xmlns:a16="http://schemas.microsoft.com/office/drawing/2014/main" id="{D7A79AAA-3044-E48A-4092-1F25D1103945}"/>
              </a:ext>
            </a:extLst>
          </p:cNvPr>
          <p:cNvSpPr txBox="1"/>
          <p:nvPr/>
        </p:nvSpPr>
        <p:spPr>
          <a:xfrm>
            <a:off x="4773357" y="3421575"/>
            <a:ext cx="3134672" cy="769441"/>
          </a:xfrm>
          <a:prstGeom prst="rect">
            <a:avLst/>
          </a:prstGeom>
          <a:noFill/>
        </p:spPr>
        <p:txBody>
          <a:bodyPr wrap="square" rtlCol="0">
            <a:spAutoFit/>
          </a:bodyPr>
          <a:lstStyle/>
          <a:p>
            <a:r>
              <a:rPr lang="en-US" sz="1100" dirty="0">
                <a:solidFill>
                  <a:schemeClr val="bg1">
                    <a:lumMod val="95000"/>
                  </a:schemeClr>
                </a:solidFill>
              </a:rPr>
              <a:t>Define a north star pathway achievement metric that is time-adjusted, equity-disaggregated, and reported to funders and partner institutions as the primary measure of mission success.</a:t>
            </a:r>
          </a:p>
        </p:txBody>
      </p:sp>
    </p:spTree>
    <p:extLst>
      <p:ext uri="{BB962C8B-B14F-4D97-AF65-F5344CB8AC3E}">
        <p14:creationId xmlns:p14="http://schemas.microsoft.com/office/powerpoint/2010/main" val="38864044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184</TotalTime>
  <Words>1015</Words>
  <Application>Microsoft Macintosh PowerPoint</Application>
  <PresentationFormat>On-screen Show (16:9)</PresentationFormat>
  <Paragraphs>81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CampusEvolve – Founding Data Scientist</dc:title>
  <dc:subject>PptxGenJS Presentation</dc:subject>
  <dc:creator>Ishan Joshi</dc:creator>
  <cp:lastModifiedBy>Ishan Joshi</cp:lastModifiedBy>
  <cp:revision>3</cp:revision>
  <dcterms:created xsi:type="dcterms:W3CDTF">2026-03-22T04:15:01Z</dcterms:created>
  <dcterms:modified xsi:type="dcterms:W3CDTF">2026-03-22T07:22:01Z</dcterms:modified>
</cp:coreProperties>
</file>